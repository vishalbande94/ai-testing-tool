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QA AI Testing Tool | Confidential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0" y="660196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http://localhost:3001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9144000" y="457200"/>
            <a:ext cx="2743200" cy="274320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7" name="Shape 5"/>
          <p:cNvSpPr/>
          <p:nvPr/>
        </p:nvSpPr>
        <p:spPr>
          <a:xfrm>
            <a:off x="10058400" y="3657600"/>
            <a:ext cx="2286000" cy="2286000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09728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🤖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914400" y="23774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QA AI Testing Tool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914400" y="32004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Test Generation  •  Execution  •  Reporting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14400" y="3840480"/>
            <a:ext cx="3657600" cy="2743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1148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Transform Requirements into Executable Tests — Zero Code Required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14400" y="4846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URL: </a:t>
            </a:r>
            <a:pPr indent="0" marL="0">
              <a:buNone/>
            </a:pPr>
            <a:r>
              <a:rPr lang="en-US" sz="12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http://localhost:3001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5212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Version 1.0  |  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April 2026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5943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QA AI Testing Tool | Confidential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0" y="660196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http://localhost:3001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Agenda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We Will Cover Today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5303520" cy="594360"/>
          </a:xfrm>
          <a:prstGeom prst="roundRect">
            <a:avLst>
              <a:gd name="adj" fmla="val 23077"/>
            </a:avLst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55448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15087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 We Solve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88720" y="175564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manual QA is slow and error-prone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2194560"/>
            <a:ext cx="5303520" cy="594360"/>
          </a:xfrm>
          <a:prstGeom prst="roundRect">
            <a:avLst>
              <a:gd name="adj" fmla="val 23077"/>
            </a:avLst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2860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2240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 Overview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88720" y="248716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the QA AI Tool does end-to-end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48640" y="2926080"/>
            <a:ext cx="5303520" cy="594360"/>
          </a:xfrm>
          <a:prstGeom prst="roundRect">
            <a:avLst>
              <a:gd name="adj" fmla="val 23077"/>
            </a:avLst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0175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2971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Features Walkthrough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88720" y="321868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 major capabilities with details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3657600"/>
            <a:ext cx="5303520" cy="594360"/>
          </a:xfrm>
          <a:prstGeom prst="roundRect">
            <a:avLst>
              <a:gd name="adj" fmla="val 23077"/>
            </a:avLst>
          </a:prstGeom>
          <a:solidFill>
            <a:srgbClr val="1E293B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7490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88720" y="37033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Agent Team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88720" y="395020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specialized AI agents working together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8640" y="4389120"/>
            <a:ext cx="5303520" cy="594360"/>
          </a:xfrm>
          <a:prstGeom prst="roundRect">
            <a:avLst>
              <a:gd name="adj" fmla="val 23077"/>
            </a:avLst>
          </a:prstGeom>
          <a:solidFill>
            <a:srgbClr val="1E293B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44805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88720" y="44348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Execution Pipeline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88720" y="468172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10-step automated testing flow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8640" y="5120640"/>
            <a:ext cx="5303520" cy="594360"/>
          </a:xfrm>
          <a:prstGeom prst="roundRect">
            <a:avLst>
              <a:gd name="adj" fmla="val 23077"/>
            </a:avLst>
          </a:prstGeom>
          <a:solidFill>
            <a:srgbClr val="1E293B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" y="521208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188720" y="51663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 Automation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88720" y="541324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 → Email → Auto-Test → Report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400800" y="1463040"/>
            <a:ext cx="5303520" cy="594360"/>
          </a:xfrm>
          <a:prstGeom prst="roundRect">
            <a:avLst>
              <a:gd name="adj" fmla="val 23077"/>
            </a:avLst>
          </a:prstGeom>
          <a:solidFill>
            <a:srgbClr val="1E293B"/>
          </a:solidFill>
          <a:ln/>
        </p:spPr>
      </p:sp>
      <p:sp>
        <p:nvSpPr>
          <p:cNvPr id="33" name="Text 31"/>
          <p:cNvSpPr/>
          <p:nvPr/>
        </p:nvSpPr>
        <p:spPr>
          <a:xfrm>
            <a:off x="6537960" y="155448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040880" y="15087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JIRA Integration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040880" y="175564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Auto-create bugs from failed tests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400800" y="2194560"/>
            <a:ext cx="5303520" cy="594360"/>
          </a:xfrm>
          <a:prstGeom prst="roundRect">
            <a:avLst>
              <a:gd name="adj" fmla="val 23077"/>
            </a:avLst>
          </a:prstGeom>
          <a:solidFill>
            <a:srgbClr val="1E293B"/>
          </a:solidFill>
          <a:ln/>
        </p:spPr>
      </p:sp>
      <p:sp>
        <p:nvSpPr>
          <p:cNvPr id="37" name="Text 35"/>
          <p:cNvSpPr/>
          <p:nvPr/>
        </p:nvSpPr>
        <p:spPr>
          <a:xfrm>
            <a:off x="6537960" y="228600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040880" y="2240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Script Generator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040880" y="248716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 full test frameworks as ZIP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400800" y="2926080"/>
            <a:ext cx="5303520" cy="594360"/>
          </a:xfrm>
          <a:prstGeom prst="roundRect">
            <a:avLst>
              <a:gd name="adj" fmla="val 23077"/>
            </a:avLst>
          </a:prstGeom>
          <a:solidFill>
            <a:srgbClr val="1E293B"/>
          </a:solidFill>
          <a:ln/>
        </p:spPr>
      </p:sp>
      <p:sp>
        <p:nvSpPr>
          <p:cNvPr id="41" name="Text 39"/>
          <p:cNvSpPr/>
          <p:nvPr/>
        </p:nvSpPr>
        <p:spPr>
          <a:xfrm>
            <a:off x="6537960" y="301752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040880" y="2971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Reports &amp; Analytics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040880" y="321868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HTML, Excel, JSON, Dashboard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400800" y="3657600"/>
            <a:ext cx="5303520" cy="594360"/>
          </a:xfrm>
          <a:prstGeom prst="roundRect">
            <a:avLst>
              <a:gd name="adj" fmla="val 23077"/>
            </a:avLst>
          </a:prstGeom>
          <a:solidFill>
            <a:srgbClr val="1E293B"/>
          </a:solidFill>
          <a:ln/>
        </p:spPr>
      </p:sp>
      <p:sp>
        <p:nvSpPr>
          <p:cNvPr id="45" name="Text 43"/>
          <p:cNvSpPr/>
          <p:nvPr/>
        </p:nvSpPr>
        <p:spPr>
          <a:xfrm>
            <a:off x="6537960" y="374904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7040880" y="37033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&amp; Tech Stack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7040880" y="395020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How it all fits together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400800" y="4389120"/>
            <a:ext cx="5303520" cy="594360"/>
          </a:xfrm>
          <a:prstGeom prst="roundRect">
            <a:avLst>
              <a:gd name="adj" fmla="val 23077"/>
            </a:avLst>
          </a:prstGeom>
          <a:solidFill>
            <a:srgbClr val="1E293B"/>
          </a:solidFill>
          <a:ln/>
        </p:spPr>
      </p:sp>
      <p:sp>
        <p:nvSpPr>
          <p:cNvPr id="49" name="Text 47"/>
          <p:cNvSpPr/>
          <p:nvPr/>
        </p:nvSpPr>
        <p:spPr>
          <a:xfrm>
            <a:off x="6537960" y="44805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7040880" y="44348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Demo Plan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7040880" y="468172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End-to-end walkthrough at localhost:3001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400800" y="5120640"/>
            <a:ext cx="5303520" cy="594360"/>
          </a:xfrm>
          <a:prstGeom prst="roundRect">
            <a:avLst>
              <a:gd name="adj" fmla="val 23077"/>
            </a:avLst>
          </a:prstGeom>
          <a:solidFill>
            <a:srgbClr val="1E293B"/>
          </a:solidFill>
          <a:ln/>
        </p:spPr>
      </p:sp>
      <p:sp>
        <p:nvSpPr>
          <p:cNvPr id="53" name="Text 51"/>
          <p:cNvSpPr/>
          <p:nvPr/>
        </p:nvSpPr>
        <p:spPr>
          <a:xfrm>
            <a:off x="6537960" y="521208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7040880" y="51663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Roadmap &amp; Next Steps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7040880" y="541324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coming next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QA AI Testing Tool | Confidential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0" y="660196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http://localhost:3001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 We Solve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Traditional QA is Slow, Manual, and Error-Prone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5486400" cy="4754880"/>
          </a:xfrm>
          <a:prstGeom prst="roundRect">
            <a:avLst>
              <a:gd name="adj" fmla="val 2885"/>
            </a:avLst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463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 Current Pain Points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19659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📝 Manual test case writing takes 2-3 days per module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24688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🐌 Test execution is slow — 30+ hours for full regression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9718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🔁 Repetitive work — same patterns across every project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34747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😓 Human error — missed edge cases, inconsistent coverage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39776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Report creation takes 4-6 hours manually in Excel/Word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44805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🔗 No integration — separate tools for tests, bugs, reports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49834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💰 High cost — 3-5 QA engineers needed per project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54864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⏰ Delayed feedback — bugs found days after deployment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1371600"/>
            <a:ext cx="5486400" cy="4754880"/>
          </a:xfrm>
          <a:prstGeom prst="roundRect">
            <a:avLst>
              <a:gd name="adj" fmla="val 2885"/>
            </a:avLst>
          </a:prstGeom>
          <a:solidFill>
            <a:srgbClr val="1E293B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0" y="1463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 Our Solution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92240" y="19659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Auto-generate 30-100+ test cases in seconds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92240" y="24688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🤖 AI + Rule-based dual engine — works with or without API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92240" y="29718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🎭 Playwright execution with smart adaptive selectors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92240" y="34747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Instant HTML, Excel, JSON reports — one click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92240" y="397764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🔗 Built-in JIRA integration — auto-log bugs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92240" y="448056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📧 Email automation — deploy triggers tests automatically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92240" y="49834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💰 Replaces 3-5 engineers for test case generation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92240" y="54864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⏱️ Full pipeline in under 5 minutes, not 5 days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21792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D5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days manual  →  5 minutes automated  |  30+ hours execution  →  33 minutes  |  3 engineers  →  1 tool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QA AI Testing Tool | Confidential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0" y="660196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http://localhost:3001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 Overview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End-to-End Automated QA Platform — 6 Core Capabilities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371600"/>
            <a:ext cx="1828800" cy="210312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/>
        </p:spPr>
      </p:sp>
      <p:sp>
        <p:nvSpPr>
          <p:cNvPr id="9" name="Shape 7"/>
          <p:cNvSpPr/>
          <p:nvPr/>
        </p:nvSpPr>
        <p:spPr>
          <a:xfrm>
            <a:off x="1005840" y="1600200"/>
            <a:ext cx="548640" cy="54864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16276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📋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02920" y="22860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Generation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60604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Upload requirements → auto-generate 30-100+ test cases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377440" y="1371600"/>
            <a:ext cx="1828800" cy="210312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/>
        </p:spPr>
      </p:sp>
      <p:sp>
        <p:nvSpPr>
          <p:cNvPr id="14" name="Shape 12"/>
          <p:cNvSpPr/>
          <p:nvPr/>
        </p:nvSpPr>
        <p:spPr>
          <a:xfrm>
            <a:off x="3017520" y="1600200"/>
            <a:ext cx="548640" cy="548640"/>
          </a:xfrm>
          <a:prstGeom prst="ellipse">
            <a:avLst/>
          </a:prstGeom>
          <a:solidFill>
            <a:srgbClr val="0D47A1"/>
          </a:solidFill>
          <a:ln/>
        </p:spPr>
      </p:sp>
      <p:sp>
        <p:nvSpPr>
          <p:cNvPr id="15" name="Text 13"/>
          <p:cNvSpPr/>
          <p:nvPr/>
        </p:nvSpPr>
        <p:spPr>
          <a:xfrm>
            <a:off x="3017520" y="16276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🎭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514600" y="22860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Execution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14600" y="260604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Playwright runs tests in real browsers with smart selectors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389120" y="1371600"/>
            <a:ext cx="1828800" cy="210312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/>
        </p:spPr>
      </p:sp>
      <p:sp>
        <p:nvSpPr>
          <p:cNvPr id="19" name="Shape 17"/>
          <p:cNvSpPr/>
          <p:nvPr/>
        </p:nvSpPr>
        <p:spPr>
          <a:xfrm>
            <a:off x="5029200" y="1600200"/>
            <a:ext cx="548640" cy="5486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0" y="16276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526280" y="22860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26280" y="260604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HTML, Excel, JSON reports with charts &amp; analytics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400800" y="1371600"/>
            <a:ext cx="1828800" cy="210312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/>
        </p:spPr>
      </p:sp>
      <p:sp>
        <p:nvSpPr>
          <p:cNvPr id="24" name="Shape 22"/>
          <p:cNvSpPr/>
          <p:nvPr/>
        </p:nvSpPr>
        <p:spPr>
          <a:xfrm>
            <a:off x="7040880" y="1600200"/>
            <a:ext cx="548640" cy="548640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25" name="Text 23"/>
          <p:cNvSpPr/>
          <p:nvPr/>
        </p:nvSpPr>
        <p:spPr>
          <a:xfrm>
            <a:off x="7040880" y="16276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🤖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537960" y="22860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Agents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37960" y="260604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specialized AI agents with 65+ years QA experience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412480" y="1371600"/>
            <a:ext cx="1828800" cy="210312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/>
        </p:spPr>
      </p:sp>
      <p:sp>
        <p:nvSpPr>
          <p:cNvPr id="29" name="Shape 27"/>
          <p:cNvSpPr/>
          <p:nvPr/>
        </p:nvSpPr>
        <p:spPr>
          <a:xfrm>
            <a:off x="9052560" y="1600200"/>
            <a:ext cx="548640" cy="548640"/>
          </a:xfrm>
          <a:prstGeom prst="ellipse">
            <a:avLst/>
          </a:prstGeom>
          <a:solidFill>
            <a:srgbClr val="FF6F00"/>
          </a:solidFill>
          <a:ln/>
        </p:spPr>
      </p:sp>
      <p:sp>
        <p:nvSpPr>
          <p:cNvPr id="30" name="Text 28"/>
          <p:cNvSpPr/>
          <p:nvPr/>
        </p:nvSpPr>
        <p:spPr>
          <a:xfrm>
            <a:off x="9052560" y="16276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📧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8549640" y="22860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 Bot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549640" y="260604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 email triggers auto-testing pipeline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0424160" y="1371600"/>
            <a:ext cx="1828800" cy="210312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/>
        </p:spPr>
      </p:sp>
      <p:sp>
        <p:nvSpPr>
          <p:cNvPr id="34" name="Shape 32"/>
          <p:cNvSpPr/>
          <p:nvPr/>
        </p:nvSpPr>
        <p:spPr>
          <a:xfrm>
            <a:off x="11064240" y="1600200"/>
            <a:ext cx="548640" cy="5486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5" name="Text 33"/>
          <p:cNvSpPr/>
          <p:nvPr/>
        </p:nvSpPr>
        <p:spPr>
          <a:xfrm>
            <a:off x="11064240" y="16276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🔗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10561320" y="228600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Integrations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0561320" y="260604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JIRA bugs, Script Gen, Dashboard history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65760" y="3749040"/>
            <a:ext cx="11430000" cy="1097280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/>
        </p:spPr>
      </p:sp>
      <p:sp>
        <p:nvSpPr>
          <p:cNvPr id="39" name="Text 37"/>
          <p:cNvSpPr/>
          <p:nvPr/>
        </p:nvSpPr>
        <p:spPr>
          <a:xfrm>
            <a:off x="640080" y="38404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30-100+</a:t>
            </a:r>
            <a:endParaRPr lang="en-US" sz="2400" dirty="0"/>
          </a:p>
        </p:txBody>
      </p:sp>
      <p:sp>
        <p:nvSpPr>
          <p:cNvPr id="40" name="Text 38"/>
          <p:cNvSpPr/>
          <p:nvPr/>
        </p:nvSpPr>
        <p:spPr>
          <a:xfrm>
            <a:off x="640080" y="43434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Cases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Generated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560320" y="38404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2400" dirty="0"/>
          </a:p>
        </p:txBody>
      </p:sp>
      <p:sp>
        <p:nvSpPr>
          <p:cNvPr id="42" name="Text 40"/>
          <p:cNvSpPr/>
          <p:nvPr/>
        </p:nvSpPr>
        <p:spPr>
          <a:xfrm>
            <a:off x="2560320" y="43434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Built-in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480560" y="38404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2400" dirty="0"/>
          </a:p>
        </p:txBody>
      </p:sp>
      <p:sp>
        <p:nvSpPr>
          <p:cNvPr id="44" name="Text 42"/>
          <p:cNvSpPr/>
          <p:nvPr/>
        </p:nvSpPr>
        <p:spPr>
          <a:xfrm>
            <a:off x="4480560" y="43434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Agents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400800" y="38404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400" dirty="0"/>
          </a:p>
        </p:txBody>
      </p:sp>
      <p:sp>
        <p:nvSpPr>
          <p:cNvPr id="46" name="Text 44"/>
          <p:cNvSpPr/>
          <p:nvPr/>
        </p:nvSpPr>
        <p:spPr>
          <a:xfrm>
            <a:off x="6400800" y="43434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Browser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Targets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321040" y="38404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400" dirty="0"/>
          </a:p>
        </p:txBody>
      </p:sp>
      <p:sp>
        <p:nvSpPr>
          <p:cNvPr id="48" name="Text 46"/>
          <p:cNvSpPr/>
          <p:nvPr/>
        </p:nvSpPr>
        <p:spPr>
          <a:xfrm>
            <a:off x="8321040" y="43434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Formats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0241280" y="384048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&lt; 5 min</a:t>
            </a:r>
            <a:endParaRPr lang="en-US" sz="2400" dirty="0"/>
          </a:p>
        </p:txBody>
      </p:sp>
      <p:sp>
        <p:nvSpPr>
          <p:cNvPr id="50" name="Text 48"/>
          <p:cNvSpPr/>
          <p:nvPr/>
        </p:nvSpPr>
        <p:spPr>
          <a:xfrm>
            <a:off x="10241280" y="434340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Pipeline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65760" y="5120640"/>
            <a:ext cx="11430000" cy="1188720"/>
          </a:xfrm>
          <a:prstGeom prst="roundRect">
            <a:avLst>
              <a:gd name="adj" fmla="val 11538"/>
            </a:avLst>
          </a:prstGeom>
          <a:solidFill>
            <a:srgbClr val="1E293B"/>
          </a:solidFill>
          <a:ln/>
        </p:spPr>
      </p:sp>
      <p:sp>
        <p:nvSpPr>
          <p:cNvPr id="52" name="Text 50"/>
          <p:cNvSpPr/>
          <p:nvPr/>
        </p:nvSpPr>
        <p:spPr>
          <a:xfrm>
            <a:off x="548640" y="5166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 Stack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640080" y="5577840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334155"/>
          </a:solidFill>
          <a:ln/>
        </p:spPr>
      </p:sp>
      <p:sp>
        <p:nvSpPr>
          <p:cNvPr id="54" name="Text 52"/>
          <p:cNvSpPr/>
          <p:nvPr/>
        </p:nvSpPr>
        <p:spPr>
          <a:xfrm>
            <a:off x="640080" y="55778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18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2057400" y="5577840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334155"/>
          </a:solidFill>
          <a:ln/>
        </p:spPr>
      </p:sp>
      <p:sp>
        <p:nvSpPr>
          <p:cNvPr id="56" name="Text 54"/>
          <p:cNvSpPr/>
          <p:nvPr/>
        </p:nvSpPr>
        <p:spPr>
          <a:xfrm>
            <a:off x="2057400" y="55778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Node.js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3474720" y="5577840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334155"/>
          </a:solidFill>
          <a:ln/>
        </p:spPr>
      </p:sp>
      <p:sp>
        <p:nvSpPr>
          <p:cNvPr id="58" name="Text 56"/>
          <p:cNvSpPr/>
          <p:nvPr/>
        </p:nvSpPr>
        <p:spPr>
          <a:xfrm>
            <a:off x="3474720" y="55778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Express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892040" y="5577840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334155"/>
          </a:solidFill>
          <a:ln/>
        </p:spPr>
      </p:sp>
      <p:sp>
        <p:nvSpPr>
          <p:cNvPr id="60" name="Text 58"/>
          <p:cNvSpPr/>
          <p:nvPr/>
        </p:nvSpPr>
        <p:spPr>
          <a:xfrm>
            <a:off x="4892040" y="55778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Playwright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309360" y="5577840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334155"/>
          </a:solidFill>
          <a:ln/>
        </p:spPr>
      </p:sp>
      <p:sp>
        <p:nvSpPr>
          <p:cNvPr id="62" name="Text 60"/>
          <p:cNvSpPr/>
          <p:nvPr/>
        </p:nvSpPr>
        <p:spPr>
          <a:xfrm>
            <a:off x="6309360" y="55778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Claude AI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7726680" y="5577840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334155"/>
          </a:solidFill>
          <a:ln/>
        </p:spPr>
      </p:sp>
      <p:sp>
        <p:nvSpPr>
          <p:cNvPr id="64" name="Text 62"/>
          <p:cNvSpPr/>
          <p:nvPr/>
        </p:nvSpPr>
        <p:spPr>
          <a:xfrm>
            <a:off x="7726680" y="55778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Vite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9144000" y="5577840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334155"/>
          </a:solidFill>
          <a:ln/>
        </p:spPr>
      </p:sp>
      <p:sp>
        <p:nvSpPr>
          <p:cNvPr id="66" name="Text 64"/>
          <p:cNvSpPr/>
          <p:nvPr/>
        </p:nvSpPr>
        <p:spPr>
          <a:xfrm>
            <a:off x="9144000" y="55778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ExcelJS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10561320" y="5577840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334155"/>
          </a:solidFill>
          <a:ln/>
        </p:spPr>
      </p:sp>
      <p:sp>
        <p:nvSpPr>
          <p:cNvPr id="68" name="Text 66"/>
          <p:cNvSpPr/>
          <p:nvPr/>
        </p:nvSpPr>
        <p:spPr>
          <a:xfrm>
            <a:off x="10561320" y="557784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IMAP/SMTP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QA AI Testing Tool | Confidential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0" y="660196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http://localhost:3001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1 — Manual Test Run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Upload Requirements → Configure → Execute → Download Reports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1737360" cy="2011680"/>
          </a:xfrm>
          <a:prstGeom prst="roundRect">
            <a:avLst>
              <a:gd name="adj" fmla="val 7895"/>
            </a:avLst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4173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📄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65760" y="19202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Upload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Requirements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46888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PDF / TXT / MD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 Generic Mode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011680" y="2194560"/>
            <a:ext cx="274320" cy="228600"/>
          </a:xfrm>
          <a:prstGeom prst="rightArrow">
            <a:avLst/>
          </a:prstGeom>
          <a:solidFill>
            <a:srgbClr val="00BCD4"/>
          </a:solidFill>
          <a:ln/>
        </p:spPr>
      </p:sp>
      <p:sp>
        <p:nvSpPr>
          <p:cNvPr id="13" name="Shape 11"/>
          <p:cNvSpPr/>
          <p:nvPr/>
        </p:nvSpPr>
        <p:spPr>
          <a:xfrm>
            <a:off x="2286000" y="1371600"/>
            <a:ext cx="1737360" cy="2011680"/>
          </a:xfrm>
          <a:prstGeom prst="roundRect">
            <a:avLst>
              <a:gd name="adj" fmla="val 7895"/>
            </a:avLst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2286000" y="14173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377440" y="19202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 URL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377440" y="246888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http://localhost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 any web app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023360" y="2194560"/>
            <a:ext cx="274320" cy="228600"/>
          </a:xfrm>
          <a:prstGeom prst="rightArrow">
            <a:avLst/>
          </a:prstGeom>
          <a:solidFill>
            <a:srgbClr val="00BCD4"/>
          </a:solidFill>
          <a:ln/>
        </p:spPr>
      </p:sp>
      <p:sp>
        <p:nvSpPr>
          <p:cNvPr id="18" name="Shape 16"/>
          <p:cNvSpPr/>
          <p:nvPr/>
        </p:nvSpPr>
        <p:spPr>
          <a:xfrm>
            <a:off x="4297680" y="1371600"/>
            <a:ext cx="1737360" cy="2011680"/>
          </a:xfrm>
          <a:prstGeom prst="roundRect">
            <a:avLst>
              <a:gd name="adj" fmla="val 7895"/>
            </a:avLst>
          </a:prstGeom>
          <a:solidFill>
            <a:srgbClr val="1E293B"/>
          </a:solidFill>
          <a:ln/>
        </p:spPr>
      </p:sp>
      <p:sp>
        <p:nvSpPr>
          <p:cNvPr id="19" name="Text 17"/>
          <p:cNvSpPr/>
          <p:nvPr/>
        </p:nvSpPr>
        <p:spPr>
          <a:xfrm>
            <a:off x="4297680" y="14173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⚙️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389120" y="19202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Options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389120" y="246888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Scope, Priority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Browsers, Workers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035040" y="2194560"/>
            <a:ext cx="274320" cy="228600"/>
          </a:xfrm>
          <a:prstGeom prst="rightArrow">
            <a:avLst/>
          </a:prstGeom>
          <a:solidFill>
            <a:srgbClr val="00BCD4"/>
          </a:solidFill>
          <a:ln/>
        </p:spPr>
      </p:sp>
      <p:sp>
        <p:nvSpPr>
          <p:cNvPr id="23" name="Shape 21"/>
          <p:cNvSpPr/>
          <p:nvPr/>
        </p:nvSpPr>
        <p:spPr>
          <a:xfrm>
            <a:off x="6309360" y="1371600"/>
            <a:ext cx="1737360" cy="2011680"/>
          </a:xfrm>
          <a:prstGeom prst="roundRect">
            <a:avLst>
              <a:gd name="adj" fmla="val 7895"/>
            </a:avLst>
          </a:prstGeom>
          <a:solidFill>
            <a:srgbClr val="1E293B"/>
          </a:solidFill>
          <a:ln/>
        </p:spPr>
      </p:sp>
      <p:sp>
        <p:nvSpPr>
          <p:cNvPr id="24" name="Text 22"/>
          <p:cNvSpPr/>
          <p:nvPr/>
        </p:nvSpPr>
        <p:spPr>
          <a:xfrm>
            <a:off x="6309360" y="14173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▶️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6400800" y="19202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0" y="246888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logs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Progress tracking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8046720" y="2194560"/>
            <a:ext cx="274320" cy="228600"/>
          </a:xfrm>
          <a:prstGeom prst="rightArrow">
            <a:avLst/>
          </a:prstGeom>
          <a:solidFill>
            <a:srgbClr val="00BCD4"/>
          </a:solidFill>
          <a:ln/>
        </p:spPr>
      </p:sp>
      <p:sp>
        <p:nvSpPr>
          <p:cNvPr id="28" name="Shape 26"/>
          <p:cNvSpPr/>
          <p:nvPr/>
        </p:nvSpPr>
        <p:spPr>
          <a:xfrm>
            <a:off x="8321040" y="1371600"/>
            <a:ext cx="1737360" cy="2011680"/>
          </a:xfrm>
          <a:prstGeom prst="roundRect">
            <a:avLst>
              <a:gd name="adj" fmla="val 7895"/>
            </a:avLst>
          </a:prstGeom>
          <a:solidFill>
            <a:srgbClr val="1E293B"/>
          </a:solidFill>
          <a:ln/>
        </p:spPr>
      </p:sp>
      <p:sp>
        <p:nvSpPr>
          <p:cNvPr id="29" name="Text 27"/>
          <p:cNvSpPr/>
          <p:nvPr/>
        </p:nvSpPr>
        <p:spPr>
          <a:xfrm>
            <a:off x="8321040" y="14173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8412480" y="19202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View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412480" y="246888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Pass/Fail table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Error details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0058400" y="2194560"/>
            <a:ext cx="274320" cy="228600"/>
          </a:xfrm>
          <a:prstGeom prst="rightArrow">
            <a:avLst/>
          </a:prstGeom>
          <a:solidFill>
            <a:srgbClr val="00BCD4"/>
          </a:solidFill>
          <a:ln/>
        </p:spPr>
      </p:sp>
      <p:sp>
        <p:nvSpPr>
          <p:cNvPr id="33" name="Shape 31"/>
          <p:cNvSpPr/>
          <p:nvPr/>
        </p:nvSpPr>
        <p:spPr>
          <a:xfrm>
            <a:off x="10332720" y="1371600"/>
            <a:ext cx="1737360" cy="2011680"/>
          </a:xfrm>
          <a:prstGeom prst="roundRect">
            <a:avLst>
              <a:gd name="adj" fmla="val 7895"/>
            </a:avLst>
          </a:prstGeom>
          <a:solidFill>
            <a:srgbClr val="1E293B"/>
          </a:solidFill>
          <a:ln/>
        </p:spPr>
      </p:sp>
      <p:sp>
        <p:nvSpPr>
          <p:cNvPr id="34" name="Text 32"/>
          <p:cNvSpPr/>
          <p:nvPr/>
        </p:nvSpPr>
        <p:spPr>
          <a:xfrm>
            <a:off x="10332720" y="14173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📥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10424160" y="192024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Download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424160" y="2468880"/>
            <a:ext cx="1554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HTML + Excel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JSON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65760" y="3657600"/>
            <a:ext cx="5486400" cy="2743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/>
        </p:spPr>
      </p:sp>
      <p:sp>
        <p:nvSpPr>
          <p:cNvPr id="38" name="Text 36"/>
          <p:cNvSpPr/>
          <p:nvPr/>
        </p:nvSpPr>
        <p:spPr>
          <a:xfrm>
            <a:off x="548640" y="3703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⚙️  Configuration Panel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40080" y="4114800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Test Scope: Smoke / Sanity / Regression / Full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40080" y="4370832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Priority: Critical Only / High+Critical / All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40080" y="4626864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Modules: Select specific or All modules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40080" y="4882896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Browsers: Chromium, Firefox, WebKit, Mobile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40080" y="5138928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Workers: 1-5 parallel test runners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40080" y="5394960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Screenshots: Never / On-Failure / Always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40080" y="5650992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Video: Off / On-Failure / On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40080" y="5907024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Accessibility &amp; Performance checks (toggle)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40080" y="6163056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Environment: QA / Staging / Production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126480" y="3657600"/>
            <a:ext cx="5577840" cy="2743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/>
        </p:spPr>
      </p:sp>
      <p:sp>
        <p:nvSpPr>
          <p:cNvPr id="49" name="Text 47"/>
          <p:cNvSpPr/>
          <p:nvPr/>
        </p:nvSpPr>
        <p:spPr>
          <a:xfrm>
            <a:off x="6309360" y="3703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 Results Panel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6400800" y="41148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Pass: 28  </a:t>
            </a:r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✗ Fail: 2  </a:t>
            </a:r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 Skip: 0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400800" y="448056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execution logs stream below the config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panel. Color-coded: green=pass, red=fail, white=info.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Results table shows: Test Case, Module, Type,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Priority, Status, Duration, Error Message.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Download buttons appear after completion: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📄 HTML Report (professional, printable)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📊 Excel Report (3-sheet workbook)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📋 Test Cases JSON (raw data)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QA AI Testing Tool | Confidential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0" y="660196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http://localhost:3001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2 — 10-Step Execution Pipeline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Document Upload to Final Report — Fully Automated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2103120" cy="2011680"/>
          </a:xfrm>
          <a:prstGeom prst="roundRect">
            <a:avLst>
              <a:gd name="adj" fmla="val 6818"/>
            </a:avLst>
          </a:prstGeom>
          <a:solidFill>
            <a:srgbClr val="1E293B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1463040"/>
            <a:ext cx="457200" cy="365760"/>
          </a:xfrm>
          <a:prstGeom prst="roundRect">
            <a:avLst>
              <a:gd name="adj" fmla="val 20000"/>
            </a:avLst>
          </a:prstGeom>
          <a:solidFill>
            <a:srgbClr val="6366F1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4630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14630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📄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" y="19202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Parse Document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22860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Extract text from PDF/TXT/MD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788920"/>
            <a:ext cx="1371600" cy="320040"/>
          </a:xfrm>
          <a:prstGeom prst="roundRect">
            <a:avLst>
              <a:gd name="adj" fmla="val 17143"/>
            </a:avLst>
          </a:prstGeom>
          <a:solidFill>
            <a:srgbClr val="334155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7889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377440" y="2194560"/>
            <a:ext cx="228600" cy="228600"/>
          </a:xfrm>
          <a:prstGeom prst="rightArrow">
            <a:avLst/>
          </a:prstGeom>
          <a:solidFill>
            <a:srgbClr val="00BCD4"/>
          </a:solidFill>
          <a:ln/>
        </p:spPr>
      </p:sp>
      <p:sp>
        <p:nvSpPr>
          <p:cNvPr id="17" name="Shape 15"/>
          <p:cNvSpPr/>
          <p:nvPr/>
        </p:nvSpPr>
        <p:spPr>
          <a:xfrm>
            <a:off x="2651760" y="1371600"/>
            <a:ext cx="2103120" cy="2011680"/>
          </a:xfrm>
          <a:prstGeom prst="roundRect">
            <a:avLst>
              <a:gd name="adj" fmla="val 6818"/>
            </a:avLst>
          </a:prstGeom>
          <a:solidFill>
            <a:srgbClr val="1E293B"/>
          </a:solidFill>
          <a:ln/>
        </p:spPr>
      </p:sp>
      <p:sp>
        <p:nvSpPr>
          <p:cNvPr id="18" name="Shape 16"/>
          <p:cNvSpPr/>
          <p:nvPr/>
        </p:nvSpPr>
        <p:spPr>
          <a:xfrm>
            <a:off x="2743200" y="1463040"/>
            <a:ext cx="457200" cy="365760"/>
          </a:xfrm>
          <a:prstGeom prst="roundRect">
            <a:avLst>
              <a:gd name="adj" fmla="val 20000"/>
            </a:avLst>
          </a:prstGeom>
          <a:solidFill>
            <a:srgbClr val="6366F1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0" y="14630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291840" y="14630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2743200" y="19202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Analyze Requirements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743200" y="22860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detects domain &amp; risks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0" y="2788920"/>
            <a:ext cx="1371600" cy="320040"/>
          </a:xfrm>
          <a:prstGeom prst="roundRect">
            <a:avLst>
              <a:gd name="adj" fmla="val 17143"/>
            </a:avLst>
          </a:prstGeom>
          <a:solidFill>
            <a:srgbClr val="00BCD4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0" y="27889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Agent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754880" y="2194560"/>
            <a:ext cx="228600" cy="228600"/>
          </a:xfrm>
          <a:prstGeom prst="rightArrow">
            <a:avLst/>
          </a:prstGeom>
          <a:solidFill>
            <a:srgbClr val="00BCD4"/>
          </a:solidFill>
          <a:ln/>
        </p:spPr>
      </p:sp>
      <p:sp>
        <p:nvSpPr>
          <p:cNvPr id="26" name="Shape 24"/>
          <p:cNvSpPr/>
          <p:nvPr/>
        </p:nvSpPr>
        <p:spPr>
          <a:xfrm>
            <a:off x="5029200" y="1371600"/>
            <a:ext cx="2103120" cy="2011680"/>
          </a:xfrm>
          <a:prstGeom prst="roundRect">
            <a:avLst>
              <a:gd name="adj" fmla="val 6818"/>
            </a:avLst>
          </a:prstGeom>
          <a:solidFill>
            <a:srgbClr val="1E293B"/>
          </a:solidFill>
          <a:ln/>
        </p:spPr>
      </p:sp>
      <p:sp>
        <p:nvSpPr>
          <p:cNvPr id="27" name="Shape 25"/>
          <p:cNvSpPr/>
          <p:nvPr/>
        </p:nvSpPr>
        <p:spPr>
          <a:xfrm>
            <a:off x="5120640" y="1463040"/>
            <a:ext cx="457200" cy="365760"/>
          </a:xfrm>
          <a:prstGeom prst="roundRect">
            <a:avLst>
              <a:gd name="adj" fmla="val 20000"/>
            </a:avLst>
          </a:prstGeom>
          <a:solidFill>
            <a:srgbClr val="6366F1"/>
          </a:solidFill>
          <a:ln/>
        </p:spPr>
      </p:sp>
      <p:sp>
        <p:nvSpPr>
          <p:cNvPr id="28" name="Text 26"/>
          <p:cNvSpPr/>
          <p:nvPr/>
        </p:nvSpPr>
        <p:spPr>
          <a:xfrm>
            <a:off x="5120640" y="14630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669280" y="14630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5120640" y="19202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 Test Cases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120640" y="22860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30-100+ cases with steps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120640" y="2788920"/>
            <a:ext cx="1371600" cy="320040"/>
          </a:xfrm>
          <a:prstGeom prst="roundRect">
            <a:avLst>
              <a:gd name="adj" fmla="val 17143"/>
            </a:avLst>
          </a:prstGeom>
          <a:solidFill>
            <a:srgbClr val="00BCD4"/>
          </a:solidFill>
          <a:ln/>
        </p:spPr>
      </p:sp>
      <p:sp>
        <p:nvSpPr>
          <p:cNvPr id="33" name="Text 31"/>
          <p:cNvSpPr/>
          <p:nvPr/>
        </p:nvSpPr>
        <p:spPr>
          <a:xfrm>
            <a:off x="5120640" y="27889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/ Rules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132320" y="2194560"/>
            <a:ext cx="228600" cy="228600"/>
          </a:xfrm>
          <a:prstGeom prst="rightArrow">
            <a:avLst/>
          </a:prstGeom>
          <a:solidFill>
            <a:srgbClr val="00BCD4"/>
          </a:solidFill>
          <a:ln/>
        </p:spPr>
      </p:sp>
      <p:sp>
        <p:nvSpPr>
          <p:cNvPr id="35" name="Shape 33"/>
          <p:cNvSpPr/>
          <p:nvPr/>
        </p:nvSpPr>
        <p:spPr>
          <a:xfrm>
            <a:off x="7406640" y="1371600"/>
            <a:ext cx="2103120" cy="2011680"/>
          </a:xfrm>
          <a:prstGeom prst="roundRect">
            <a:avLst>
              <a:gd name="adj" fmla="val 6818"/>
            </a:avLst>
          </a:prstGeom>
          <a:solidFill>
            <a:srgbClr val="1E293B"/>
          </a:solidFill>
          <a:ln/>
        </p:spPr>
      </p:sp>
      <p:sp>
        <p:nvSpPr>
          <p:cNvPr id="36" name="Shape 34"/>
          <p:cNvSpPr/>
          <p:nvPr/>
        </p:nvSpPr>
        <p:spPr>
          <a:xfrm>
            <a:off x="7498080" y="1463040"/>
            <a:ext cx="457200" cy="365760"/>
          </a:xfrm>
          <a:prstGeom prst="roundRect">
            <a:avLst>
              <a:gd name="adj" fmla="val 20000"/>
            </a:avLst>
          </a:prstGeom>
          <a:solidFill>
            <a:srgbClr val="6366F1"/>
          </a:solidFill>
          <a:ln/>
        </p:spPr>
      </p:sp>
      <p:sp>
        <p:nvSpPr>
          <p:cNvPr id="37" name="Text 35"/>
          <p:cNvSpPr/>
          <p:nvPr/>
        </p:nvSpPr>
        <p:spPr>
          <a:xfrm>
            <a:off x="7498080" y="14630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046720" y="14630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👔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7498080" y="19202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 Test Plan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498080" y="22860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Coverage check, gap analysis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498080" y="2788920"/>
            <a:ext cx="1371600" cy="320040"/>
          </a:xfrm>
          <a:prstGeom prst="roundRect">
            <a:avLst>
              <a:gd name="adj" fmla="val 17143"/>
            </a:avLst>
          </a:prstGeom>
          <a:solidFill>
            <a:srgbClr val="00BCD4"/>
          </a:solidFill>
          <a:ln/>
        </p:spPr>
      </p:sp>
      <p:sp>
        <p:nvSpPr>
          <p:cNvPr id="42" name="Text 40"/>
          <p:cNvSpPr/>
          <p:nvPr/>
        </p:nvSpPr>
        <p:spPr>
          <a:xfrm>
            <a:off x="7498080" y="27889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Director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9509760" y="2194560"/>
            <a:ext cx="228600" cy="228600"/>
          </a:xfrm>
          <a:prstGeom prst="rightArrow">
            <a:avLst/>
          </a:prstGeom>
          <a:solidFill>
            <a:srgbClr val="00BCD4"/>
          </a:solidFill>
          <a:ln/>
        </p:spPr>
      </p:sp>
      <p:sp>
        <p:nvSpPr>
          <p:cNvPr id="44" name="Shape 42"/>
          <p:cNvSpPr/>
          <p:nvPr/>
        </p:nvSpPr>
        <p:spPr>
          <a:xfrm>
            <a:off x="9784080" y="1371600"/>
            <a:ext cx="2103120" cy="2011680"/>
          </a:xfrm>
          <a:prstGeom prst="roundRect">
            <a:avLst>
              <a:gd name="adj" fmla="val 6818"/>
            </a:avLst>
          </a:prstGeom>
          <a:solidFill>
            <a:srgbClr val="1E293B"/>
          </a:solidFill>
          <a:ln/>
        </p:spPr>
      </p:sp>
      <p:sp>
        <p:nvSpPr>
          <p:cNvPr id="45" name="Shape 43"/>
          <p:cNvSpPr/>
          <p:nvPr/>
        </p:nvSpPr>
        <p:spPr>
          <a:xfrm>
            <a:off x="9875520" y="1463040"/>
            <a:ext cx="457200" cy="365760"/>
          </a:xfrm>
          <a:prstGeom prst="roundRect">
            <a:avLst>
              <a:gd name="adj" fmla="val 20000"/>
            </a:avLst>
          </a:prstGeom>
          <a:solidFill>
            <a:srgbClr val="6366F1"/>
          </a:solidFill>
          <a:ln/>
        </p:spPr>
      </p:sp>
      <p:sp>
        <p:nvSpPr>
          <p:cNvPr id="46" name="Text 44"/>
          <p:cNvSpPr/>
          <p:nvPr/>
        </p:nvSpPr>
        <p:spPr>
          <a:xfrm>
            <a:off x="9875520" y="14630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0424160" y="146304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🎭</a:t>
            </a:r>
            <a:endParaRPr lang="en-US" sz="2000" dirty="0"/>
          </a:p>
        </p:txBody>
      </p:sp>
      <p:sp>
        <p:nvSpPr>
          <p:cNvPr id="48" name="Text 46"/>
          <p:cNvSpPr/>
          <p:nvPr/>
        </p:nvSpPr>
        <p:spPr>
          <a:xfrm>
            <a:off x="9875520" y="192024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 Playwright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9875520" y="22860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Executable JS test file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9875520" y="2788920"/>
            <a:ext cx="1371600" cy="320040"/>
          </a:xfrm>
          <a:prstGeom prst="roundRect">
            <a:avLst>
              <a:gd name="adj" fmla="val 17143"/>
            </a:avLst>
          </a:prstGeom>
          <a:solidFill>
            <a:srgbClr val="334155"/>
          </a:solidFill>
          <a:ln/>
        </p:spPr>
      </p:sp>
      <p:sp>
        <p:nvSpPr>
          <p:cNvPr id="51" name="Text 49"/>
          <p:cNvSpPr/>
          <p:nvPr/>
        </p:nvSpPr>
        <p:spPr>
          <a:xfrm>
            <a:off x="9875520" y="27889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274320" y="3931920"/>
            <a:ext cx="2103120" cy="2011680"/>
          </a:xfrm>
          <a:prstGeom prst="roundRect">
            <a:avLst>
              <a:gd name="adj" fmla="val 6818"/>
            </a:avLst>
          </a:prstGeom>
          <a:solidFill>
            <a:srgbClr val="1E293B"/>
          </a:solidFill>
          <a:ln/>
        </p:spPr>
      </p:sp>
      <p:sp>
        <p:nvSpPr>
          <p:cNvPr id="53" name="Shape 51"/>
          <p:cNvSpPr/>
          <p:nvPr/>
        </p:nvSpPr>
        <p:spPr>
          <a:xfrm>
            <a:off x="365760" y="4023360"/>
            <a:ext cx="457200" cy="365760"/>
          </a:xfrm>
          <a:prstGeom prst="roundRect">
            <a:avLst>
              <a:gd name="adj" fmla="val 20000"/>
            </a:avLst>
          </a:prstGeom>
          <a:solidFill>
            <a:srgbClr val="6366F1"/>
          </a:solidFill>
          <a:ln/>
        </p:spPr>
      </p:sp>
      <p:sp>
        <p:nvSpPr>
          <p:cNvPr id="54" name="Text 52"/>
          <p:cNvSpPr/>
          <p:nvPr/>
        </p:nvSpPr>
        <p:spPr>
          <a:xfrm>
            <a:off x="365760" y="40233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914400" y="40233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56" name="Text 54"/>
          <p:cNvSpPr/>
          <p:nvPr/>
        </p:nvSpPr>
        <p:spPr>
          <a:xfrm>
            <a:off x="365760" y="44805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Enhance Spec (AI)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365760" y="48463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selectors, retry logic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65760" y="5349240"/>
            <a:ext cx="1371600" cy="320040"/>
          </a:xfrm>
          <a:prstGeom prst="roundRect">
            <a:avLst>
              <a:gd name="adj" fmla="val 17143"/>
            </a:avLst>
          </a:prstGeom>
          <a:solidFill>
            <a:srgbClr val="00BCD4"/>
          </a:solidFill>
          <a:ln/>
        </p:spPr>
      </p:sp>
      <p:sp>
        <p:nvSpPr>
          <p:cNvPr id="59" name="Text 57"/>
          <p:cNvSpPr/>
          <p:nvPr/>
        </p:nvSpPr>
        <p:spPr>
          <a:xfrm>
            <a:off x="365760" y="53492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Engineer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2377440" y="4754880"/>
            <a:ext cx="228600" cy="228600"/>
          </a:xfrm>
          <a:prstGeom prst="rightArrow">
            <a:avLst/>
          </a:prstGeom>
          <a:solidFill>
            <a:srgbClr val="00BCD4"/>
          </a:solidFill>
          <a:ln/>
        </p:spPr>
      </p:sp>
      <p:sp>
        <p:nvSpPr>
          <p:cNvPr id="61" name="Shape 59"/>
          <p:cNvSpPr/>
          <p:nvPr/>
        </p:nvSpPr>
        <p:spPr>
          <a:xfrm>
            <a:off x="2651760" y="3931920"/>
            <a:ext cx="2103120" cy="2011680"/>
          </a:xfrm>
          <a:prstGeom prst="roundRect">
            <a:avLst>
              <a:gd name="adj" fmla="val 6818"/>
            </a:avLst>
          </a:prstGeom>
          <a:solidFill>
            <a:srgbClr val="1E293B"/>
          </a:solidFill>
          <a:ln/>
        </p:spPr>
      </p:sp>
      <p:sp>
        <p:nvSpPr>
          <p:cNvPr id="62" name="Shape 60"/>
          <p:cNvSpPr/>
          <p:nvPr/>
        </p:nvSpPr>
        <p:spPr>
          <a:xfrm>
            <a:off x="2743200" y="4023360"/>
            <a:ext cx="457200" cy="365760"/>
          </a:xfrm>
          <a:prstGeom prst="roundRect">
            <a:avLst>
              <a:gd name="adj" fmla="val 20000"/>
            </a:avLst>
          </a:prstGeom>
          <a:solidFill>
            <a:srgbClr val="6366F1"/>
          </a:solidFill>
          <a:ln/>
        </p:spPr>
      </p:sp>
      <p:sp>
        <p:nvSpPr>
          <p:cNvPr id="63" name="Text 61"/>
          <p:cNvSpPr/>
          <p:nvPr/>
        </p:nvSpPr>
        <p:spPr>
          <a:xfrm>
            <a:off x="2743200" y="40233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07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3291840" y="40233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65" name="Text 63"/>
          <p:cNvSpPr/>
          <p:nvPr/>
        </p:nvSpPr>
        <p:spPr>
          <a:xfrm>
            <a:off x="2743200" y="44805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Execute Tests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2743200" y="48463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Parallel Playwright run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2743200" y="5349240"/>
            <a:ext cx="1371600" cy="320040"/>
          </a:xfrm>
          <a:prstGeom prst="roundRect">
            <a:avLst>
              <a:gd name="adj" fmla="val 17143"/>
            </a:avLst>
          </a:prstGeom>
          <a:solidFill>
            <a:srgbClr val="334155"/>
          </a:solidFill>
          <a:ln/>
        </p:spPr>
      </p:sp>
      <p:sp>
        <p:nvSpPr>
          <p:cNvPr id="68" name="Text 66"/>
          <p:cNvSpPr/>
          <p:nvPr/>
        </p:nvSpPr>
        <p:spPr>
          <a:xfrm>
            <a:off x="2743200" y="53492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Playwright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4754880" y="4754880"/>
            <a:ext cx="228600" cy="228600"/>
          </a:xfrm>
          <a:prstGeom prst="rightArrow">
            <a:avLst/>
          </a:prstGeom>
          <a:solidFill>
            <a:srgbClr val="00BCD4"/>
          </a:solidFill>
          <a:ln/>
        </p:spPr>
      </p:sp>
      <p:sp>
        <p:nvSpPr>
          <p:cNvPr id="70" name="Shape 68"/>
          <p:cNvSpPr/>
          <p:nvPr/>
        </p:nvSpPr>
        <p:spPr>
          <a:xfrm>
            <a:off x="5029200" y="3931920"/>
            <a:ext cx="2103120" cy="2011680"/>
          </a:xfrm>
          <a:prstGeom prst="roundRect">
            <a:avLst>
              <a:gd name="adj" fmla="val 6818"/>
            </a:avLst>
          </a:prstGeom>
          <a:solidFill>
            <a:srgbClr val="1E293B"/>
          </a:solidFill>
          <a:ln/>
        </p:spPr>
      </p:sp>
      <p:sp>
        <p:nvSpPr>
          <p:cNvPr id="71" name="Shape 69"/>
          <p:cNvSpPr/>
          <p:nvPr/>
        </p:nvSpPr>
        <p:spPr>
          <a:xfrm>
            <a:off x="5120640" y="4023360"/>
            <a:ext cx="457200" cy="365760"/>
          </a:xfrm>
          <a:prstGeom prst="roundRect">
            <a:avLst>
              <a:gd name="adj" fmla="val 20000"/>
            </a:avLst>
          </a:prstGeom>
          <a:solidFill>
            <a:srgbClr val="6366F1"/>
          </a:solidFill>
          <a:ln/>
        </p:spPr>
      </p:sp>
      <p:sp>
        <p:nvSpPr>
          <p:cNvPr id="72" name="Text 70"/>
          <p:cNvSpPr/>
          <p:nvPr/>
        </p:nvSpPr>
        <p:spPr>
          <a:xfrm>
            <a:off x="5120640" y="40233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08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5669280" y="40233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74" name="Text 72"/>
          <p:cNvSpPr/>
          <p:nvPr/>
        </p:nvSpPr>
        <p:spPr>
          <a:xfrm>
            <a:off x="5120640" y="44805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Merge Results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5120640" y="48463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 pass/fail to cases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5120640" y="5349240"/>
            <a:ext cx="1371600" cy="320040"/>
          </a:xfrm>
          <a:prstGeom prst="roundRect">
            <a:avLst>
              <a:gd name="adj" fmla="val 17143"/>
            </a:avLst>
          </a:prstGeom>
          <a:solidFill>
            <a:srgbClr val="334155"/>
          </a:solidFill>
          <a:ln/>
        </p:spPr>
      </p:sp>
      <p:sp>
        <p:nvSpPr>
          <p:cNvPr id="77" name="Text 75"/>
          <p:cNvSpPr/>
          <p:nvPr/>
        </p:nvSpPr>
        <p:spPr>
          <a:xfrm>
            <a:off x="5120640" y="53492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7132320" y="4754880"/>
            <a:ext cx="228600" cy="228600"/>
          </a:xfrm>
          <a:prstGeom prst="rightArrow">
            <a:avLst/>
          </a:prstGeom>
          <a:solidFill>
            <a:srgbClr val="00BCD4"/>
          </a:solidFill>
          <a:ln/>
        </p:spPr>
      </p:sp>
      <p:sp>
        <p:nvSpPr>
          <p:cNvPr id="79" name="Shape 77"/>
          <p:cNvSpPr/>
          <p:nvPr/>
        </p:nvSpPr>
        <p:spPr>
          <a:xfrm>
            <a:off x="7406640" y="3931920"/>
            <a:ext cx="2103120" cy="2011680"/>
          </a:xfrm>
          <a:prstGeom prst="roundRect">
            <a:avLst>
              <a:gd name="adj" fmla="val 6818"/>
            </a:avLst>
          </a:prstGeom>
          <a:solidFill>
            <a:srgbClr val="1E293B"/>
          </a:solidFill>
          <a:ln/>
        </p:spPr>
      </p:sp>
      <p:sp>
        <p:nvSpPr>
          <p:cNvPr id="80" name="Shape 78"/>
          <p:cNvSpPr/>
          <p:nvPr/>
        </p:nvSpPr>
        <p:spPr>
          <a:xfrm>
            <a:off x="7498080" y="4023360"/>
            <a:ext cx="457200" cy="365760"/>
          </a:xfrm>
          <a:prstGeom prst="roundRect">
            <a:avLst>
              <a:gd name="adj" fmla="val 20000"/>
            </a:avLst>
          </a:prstGeom>
          <a:solidFill>
            <a:srgbClr val="6366F1"/>
          </a:solidFill>
          <a:ln/>
        </p:spPr>
      </p:sp>
      <p:sp>
        <p:nvSpPr>
          <p:cNvPr id="81" name="Text 79"/>
          <p:cNvSpPr/>
          <p:nvPr/>
        </p:nvSpPr>
        <p:spPr>
          <a:xfrm>
            <a:off x="7498080" y="40233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09</a:t>
            </a:r>
            <a:endParaRPr lang="en-US" sz="1200" dirty="0"/>
          </a:p>
        </p:txBody>
      </p:sp>
      <p:sp>
        <p:nvSpPr>
          <p:cNvPr id="82" name="Text 80"/>
          <p:cNvSpPr/>
          <p:nvPr/>
        </p:nvSpPr>
        <p:spPr>
          <a:xfrm>
            <a:off x="8046720" y="40233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👔</a:t>
            </a:r>
            <a:endParaRPr lang="en-US" sz="2000" dirty="0"/>
          </a:p>
        </p:txBody>
      </p:sp>
      <p:sp>
        <p:nvSpPr>
          <p:cNvPr id="83" name="Text 81"/>
          <p:cNvSpPr/>
          <p:nvPr/>
        </p:nvSpPr>
        <p:spPr>
          <a:xfrm>
            <a:off x="7498080" y="44805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Review Results</a:t>
            </a:r>
            <a:endParaRPr lang="en-US" sz="1100" dirty="0"/>
          </a:p>
        </p:txBody>
      </p:sp>
      <p:sp>
        <p:nvSpPr>
          <p:cNvPr id="84" name="Text 82"/>
          <p:cNvSpPr/>
          <p:nvPr/>
        </p:nvSpPr>
        <p:spPr>
          <a:xfrm>
            <a:off x="7498080" y="48463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Go/No-Go assessment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7498080" y="5349240"/>
            <a:ext cx="1371600" cy="320040"/>
          </a:xfrm>
          <a:prstGeom prst="roundRect">
            <a:avLst>
              <a:gd name="adj" fmla="val 17143"/>
            </a:avLst>
          </a:prstGeom>
          <a:solidFill>
            <a:srgbClr val="00BCD4"/>
          </a:solidFill>
          <a:ln/>
        </p:spPr>
      </p:sp>
      <p:sp>
        <p:nvSpPr>
          <p:cNvPr id="86" name="Text 84"/>
          <p:cNvSpPr/>
          <p:nvPr/>
        </p:nvSpPr>
        <p:spPr>
          <a:xfrm>
            <a:off x="7498080" y="53492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Director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9509760" y="4754880"/>
            <a:ext cx="228600" cy="228600"/>
          </a:xfrm>
          <a:prstGeom prst="rightArrow">
            <a:avLst/>
          </a:prstGeom>
          <a:solidFill>
            <a:srgbClr val="00BCD4"/>
          </a:solidFill>
          <a:ln/>
        </p:spPr>
      </p:sp>
      <p:sp>
        <p:nvSpPr>
          <p:cNvPr id="88" name="Shape 86"/>
          <p:cNvSpPr/>
          <p:nvPr/>
        </p:nvSpPr>
        <p:spPr>
          <a:xfrm>
            <a:off x="9784080" y="3931920"/>
            <a:ext cx="2103120" cy="2011680"/>
          </a:xfrm>
          <a:prstGeom prst="roundRect">
            <a:avLst>
              <a:gd name="adj" fmla="val 6818"/>
            </a:avLst>
          </a:prstGeom>
          <a:solidFill>
            <a:srgbClr val="1E293B"/>
          </a:solidFill>
          <a:ln/>
        </p:spPr>
      </p:sp>
      <p:sp>
        <p:nvSpPr>
          <p:cNvPr id="89" name="Shape 87"/>
          <p:cNvSpPr/>
          <p:nvPr/>
        </p:nvSpPr>
        <p:spPr>
          <a:xfrm>
            <a:off x="9875520" y="4023360"/>
            <a:ext cx="457200" cy="365760"/>
          </a:xfrm>
          <a:prstGeom prst="roundRect">
            <a:avLst>
              <a:gd name="adj" fmla="val 20000"/>
            </a:avLst>
          </a:prstGeom>
          <a:solidFill>
            <a:srgbClr val="6366F1"/>
          </a:solidFill>
          <a:ln/>
        </p:spPr>
      </p:sp>
      <p:sp>
        <p:nvSpPr>
          <p:cNvPr id="90" name="Text 88"/>
          <p:cNvSpPr/>
          <p:nvPr/>
        </p:nvSpPr>
        <p:spPr>
          <a:xfrm>
            <a:off x="9875520" y="402336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200" dirty="0"/>
          </a:p>
        </p:txBody>
      </p:sp>
      <p:sp>
        <p:nvSpPr>
          <p:cNvPr id="91" name="Text 89"/>
          <p:cNvSpPr/>
          <p:nvPr/>
        </p:nvSpPr>
        <p:spPr>
          <a:xfrm>
            <a:off x="10424160" y="40233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92" name="Text 90"/>
          <p:cNvSpPr/>
          <p:nvPr/>
        </p:nvSpPr>
        <p:spPr>
          <a:xfrm>
            <a:off x="9875520" y="44805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 Reports</a:t>
            </a:r>
            <a:endParaRPr lang="en-US" sz="1100" dirty="0"/>
          </a:p>
        </p:txBody>
      </p:sp>
      <p:sp>
        <p:nvSpPr>
          <p:cNvPr id="93" name="Text 91"/>
          <p:cNvSpPr/>
          <p:nvPr/>
        </p:nvSpPr>
        <p:spPr>
          <a:xfrm>
            <a:off x="9875520" y="48463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HTML + Excel + JIRA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9875520" y="5349240"/>
            <a:ext cx="1371600" cy="320040"/>
          </a:xfrm>
          <a:prstGeom prst="roundRect">
            <a:avLst>
              <a:gd name="adj" fmla="val 17143"/>
            </a:avLst>
          </a:prstGeom>
          <a:solidFill>
            <a:srgbClr val="334155"/>
          </a:solidFill>
          <a:ln/>
        </p:spPr>
      </p:sp>
      <p:sp>
        <p:nvSpPr>
          <p:cNvPr id="95" name="Text 93"/>
          <p:cNvSpPr/>
          <p:nvPr/>
        </p:nvSpPr>
        <p:spPr>
          <a:xfrm>
            <a:off x="9875520" y="53492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</a:t>
            </a:r>
            <a:endParaRPr lang="en-US" sz="800" dirty="0"/>
          </a:p>
        </p:txBody>
      </p:sp>
      <p:sp>
        <p:nvSpPr>
          <p:cNvPr id="96" name="Text 94"/>
          <p:cNvSpPr/>
          <p:nvPr/>
        </p:nvSpPr>
        <p:spPr>
          <a:xfrm>
            <a:off x="11247120" y="310896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BCD4"/>
                </a:solidFill>
              </a:rPr>
              <a:t>▼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QA AI Testing Tool | Confidential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0" y="660196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http://localhost:3001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3 — AI Agent Team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 Specialized AI Agents with Combined 65+ Years QA Experience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371600"/>
            <a:ext cx="11430000" cy="868680"/>
          </a:xfrm>
          <a:prstGeom prst="roundRect">
            <a:avLst>
              <a:gd name="adj" fmla="val 15789"/>
            </a:avLst>
          </a:prstGeom>
          <a:solidFill>
            <a:srgbClr val="1E293B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1508760"/>
            <a:ext cx="594360" cy="59436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5087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280160" y="1463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Requirement Analyst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80160" y="1828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 Years Experience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0" y="150876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Domain detection, requirement extraction, risk identification, compliance notes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377440"/>
            <a:ext cx="11430000" cy="868680"/>
          </a:xfrm>
          <a:prstGeom prst="roundRect">
            <a:avLst>
              <a:gd name="adj" fmla="val 15789"/>
            </a:avLst>
          </a:prstGeom>
          <a:solidFill>
            <a:srgbClr val="1E293B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2514600"/>
            <a:ext cx="594360" cy="594360"/>
          </a:xfrm>
          <a:prstGeom prst="ellipse">
            <a:avLst/>
          </a:prstGeom>
          <a:solidFill>
            <a:srgbClr val="0D47A1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5146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28016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Architect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2834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 Years Experience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114800" y="251460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 30-100+ domain-aware test cases with detailed steps &amp; expected results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383280"/>
            <a:ext cx="11430000" cy="868680"/>
          </a:xfrm>
          <a:prstGeom prst="roundRect">
            <a:avLst>
              <a:gd name="adj" fmla="val 15789"/>
            </a:avLst>
          </a:prstGeom>
          <a:solidFill>
            <a:srgbClr val="1E293B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520440"/>
            <a:ext cx="594360" cy="594360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520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280160" y="3474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Execution Engineer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80160" y="3840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 Years Experience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114800" y="352044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Enhance Playwright specs with smart selectors, retry logic, domain-aware flows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4389120"/>
            <a:ext cx="11430000" cy="868680"/>
          </a:xfrm>
          <a:prstGeom prst="roundRect">
            <a:avLst>
              <a:gd name="adj" fmla="val 15789"/>
            </a:avLst>
          </a:prstGeom>
          <a:solidFill>
            <a:srgbClr val="1E293B"/>
          </a:solidFill>
          <a:ln/>
        </p:spPr>
      </p:sp>
      <p:sp>
        <p:nvSpPr>
          <p:cNvPr id="27" name="Shape 25"/>
          <p:cNvSpPr/>
          <p:nvPr/>
        </p:nvSpPr>
        <p:spPr>
          <a:xfrm>
            <a:off x="548640" y="4526280"/>
            <a:ext cx="594360" cy="594360"/>
          </a:xfrm>
          <a:prstGeom prst="ellipse">
            <a:avLst/>
          </a:prstGeom>
          <a:solidFill>
            <a:srgbClr val="FF6F00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45262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👔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280160" y="4480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QA Director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280160" y="4846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 Years Experience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114800" y="45262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Pre-exec coverage review, post-exec Go/No-Go, deployment risk assessment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5394960"/>
            <a:ext cx="11430000" cy="868680"/>
          </a:xfrm>
          <a:prstGeom prst="roundRect">
            <a:avLst>
              <a:gd name="adj" fmla="val 15789"/>
            </a:avLst>
          </a:prstGeom>
          <a:solidFill>
            <a:srgbClr val="1E293B"/>
          </a:solidFill>
          <a:ln/>
        </p:spPr>
      </p:sp>
      <p:sp>
        <p:nvSpPr>
          <p:cNvPr id="33" name="Shape 31"/>
          <p:cNvSpPr/>
          <p:nvPr/>
        </p:nvSpPr>
        <p:spPr>
          <a:xfrm>
            <a:off x="548640" y="5532120"/>
            <a:ext cx="594360" cy="5943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" y="55321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1280160" y="5486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 Analyst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280160" y="5852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 Years Experience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114800" y="553212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summaries, JIRA bug reports, trend analysis, sign-off statements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48640" y="6400800"/>
            <a:ext cx="10972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D5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Without API Key → Seamlessly falls back to Rule-Based engine (10 modules, 30+ test cases)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QA AI Testing Tool | Confidential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0" y="660196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http://localhost:3001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4 — Email Automation Bot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Deployment Email → Auto-Trigger Tests → Report Back via Email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2011680" cy="182880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14630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📧 Developer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Sends Email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1031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"deployment done"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 app URL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86000" y="2103120"/>
            <a:ext cx="457200" cy="228600"/>
          </a:xfrm>
          <a:prstGeom prst="rightArrow">
            <a:avLst/>
          </a:prstGeom>
          <a:solidFill>
            <a:srgbClr val="00BCD4"/>
          </a:solidFill>
          <a:ln/>
        </p:spPr>
      </p:sp>
      <p:sp>
        <p:nvSpPr>
          <p:cNvPr id="12" name="Shape 10"/>
          <p:cNvSpPr/>
          <p:nvPr/>
        </p:nvSpPr>
        <p:spPr>
          <a:xfrm>
            <a:off x="2560320" y="1371600"/>
            <a:ext cx="2011680" cy="182880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2651760" y="14630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🔍 Bot Detects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Keyword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51760" y="21031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IMAP polling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120s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0" y="2103120"/>
            <a:ext cx="457200" cy="228600"/>
          </a:xfrm>
          <a:prstGeom prst="rightArrow">
            <a:avLst/>
          </a:prstGeom>
          <a:solidFill>
            <a:srgbClr val="00BCD4"/>
          </a:solidFill>
          <a:ln/>
        </p:spPr>
      </p:sp>
      <p:sp>
        <p:nvSpPr>
          <p:cNvPr id="16" name="Shape 14"/>
          <p:cNvSpPr/>
          <p:nvPr/>
        </p:nvSpPr>
        <p:spPr>
          <a:xfrm>
            <a:off x="4846320" y="1371600"/>
            <a:ext cx="2011680" cy="182880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14630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📄 Extract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URL + Reqs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37760" y="21031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email body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 attachment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58000" y="2103120"/>
            <a:ext cx="457200" cy="228600"/>
          </a:xfrm>
          <a:prstGeom prst="rightArrow">
            <a:avLst/>
          </a:prstGeom>
          <a:solidFill>
            <a:srgbClr val="00BCD4"/>
          </a:solidFill>
          <a:ln/>
        </p:spPr>
      </p:sp>
      <p:sp>
        <p:nvSpPr>
          <p:cNvPr id="20" name="Shape 18"/>
          <p:cNvSpPr/>
          <p:nvPr/>
        </p:nvSpPr>
        <p:spPr>
          <a:xfrm>
            <a:off x="7132320" y="1371600"/>
            <a:ext cx="2011680" cy="182880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/>
        </p:spPr>
      </p:sp>
      <p:sp>
        <p:nvSpPr>
          <p:cNvPr id="21" name="Text 19"/>
          <p:cNvSpPr/>
          <p:nvPr/>
        </p:nvSpPr>
        <p:spPr>
          <a:xfrm>
            <a:off x="7223760" y="14630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Run Full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Pipeline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223760" y="21031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10-step test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144000" y="2103120"/>
            <a:ext cx="457200" cy="228600"/>
          </a:xfrm>
          <a:prstGeom prst="rightArrow">
            <a:avLst/>
          </a:prstGeom>
          <a:solidFill>
            <a:srgbClr val="00BCD4"/>
          </a:solidFill>
          <a:ln/>
        </p:spPr>
      </p:sp>
      <p:sp>
        <p:nvSpPr>
          <p:cNvPr id="24" name="Shape 22"/>
          <p:cNvSpPr/>
          <p:nvPr/>
        </p:nvSpPr>
        <p:spPr>
          <a:xfrm>
            <a:off x="9418320" y="1371600"/>
            <a:ext cx="2011680" cy="182880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/>
        </p:spPr>
      </p:sp>
      <p:sp>
        <p:nvSpPr>
          <p:cNvPr id="25" name="Text 23"/>
          <p:cNvSpPr/>
          <p:nvPr/>
        </p:nvSpPr>
        <p:spPr>
          <a:xfrm>
            <a:off x="9509760" y="14630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📧 Email Back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Results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509760" y="21031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HTML + Excel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attachments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3474720"/>
            <a:ext cx="5486400" cy="2834640"/>
          </a:xfrm>
          <a:prstGeom prst="roundRect">
            <a:avLst>
              <a:gd name="adj" fmla="val 4839"/>
            </a:avLst>
          </a:prstGeom>
          <a:solidFill>
            <a:srgbClr val="1E293B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35661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⚙️  Email Monitor Configuration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" y="402336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Gmail Email: qa-bot@gmail.com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0080" y="429768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App Password: 16-char Google App Password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0080" y="457200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IMAP: imap.gmail.com:993 (auto-configured)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40080" y="484632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SMTP: smtp.gmail.com:465 (auto-configured)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0080" y="512064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Subject Keyword: "deployment done"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40080" y="539496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Poll Interval: 120 seconds (configurable)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40080" y="566928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Default Requirements: login, register, dashboard...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40080" y="5943600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Test Email: Verify SMTP connection before enabling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126480" y="3474720"/>
            <a:ext cx="5577840" cy="2834640"/>
          </a:xfrm>
          <a:prstGeom prst="roundRect">
            <a:avLst>
              <a:gd name="adj" fmla="val 4839"/>
            </a:avLst>
          </a:prstGeom>
          <a:solidFill>
            <a:srgbClr val="1E293B"/>
          </a:solidFill>
          <a:ln/>
        </p:spPr>
      </p:sp>
      <p:sp>
        <p:nvSpPr>
          <p:cNvPr id="38" name="Text 36"/>
          <p:cNvSpPr/>
          <p:nvPr/>
        </p:nvSpPr>
        <p:spPr>
          <a:xfrm>
            <a:off x="6309360" y="35661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 Use Case: CI/CD Integration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400800" y="4023360"/>
            <a:ext cx="5029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Developer deploys to staging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CI/CD pipeline sends email: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Subject: "deployment done - staging"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Body: "App URL: https://staging.app.com"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QA Bot detects email within 2 minutes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Extracts URL, runs 30+ test cases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Generates HTML + Excel reports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Emails results back to developer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 Developer gets feedback in &lt; 10 minutes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Zero manual intervention required!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QA AI Testing Tool | Confidential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0" y="660196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http://localhost:3001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5 — JIRA Integration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Failed Tests → Auto-Create JIRA Bugs with Rich Descriptions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371600"/>
            <a:ext cx="3200400" cy="13716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4630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❌ Test Fails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19202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Error captured with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screenshot &amp; logs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11880" y="1920240"/>
            <a:ext cx="457200" cy="228600"/>
          </a:xfrm>
          <a:prstGeom prst="rightArrow">
            <a:avLst/>
          </a:prstGeom>
          <a:solidFill>
            <a:srgbClr val="00BCD4"/>
          </a:solidFill>
          <a:ln/>
        </p:spPr>
      </p:sp>
      <p:sp>
        <p:nvSpPr>
          <p:cNvPr id="12" name="Shape 10"/>
          <p:cNvSpPr/>
          <p:nvPr/>
        </p:nvSpPr>
        <p:spPr>
          <a:xfrm>
            <a:off x="4206240" y="1371600"/>
            <a:ext cx="3200400" cy="13716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4297680" y="14630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🔗 JIRA API Call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297680" y="19202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Priority mapped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Labels auto-tagged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452360" y="1920240"/>
            <a:ext cx="457200" cy="228600"/>
          </a:xfrm>
          <a:prstGeom prst="rightArrow">
            <a:avLst/>
          </a:prstGeom>
          <a:solidFill>
            <a:srgbClr val="00BCD4"/>
          </a:solidFill>
          <a:ln/>
        </p:spPr>
      </p:sp>
      <p:sp>
        <p:nvSpPr>
          <p:cNvPr id="16" name="Shape 14"/>
          <p:cNvSpPr/>
          <p:nvPr/>
        </p:nvSpPr>
        <p:spPr>
          <a:xfrm>
            <a:off x="8046720" y="1371600"/>
            <a:ext cx="3657600" cy="13716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8138160" y="14630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🐛 Bug Created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138160" y="192024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PROJ-123 with full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description &amp; steps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017520"/>
            <a:ext cx="5669280" cy="3291840"/>
          </a:xfrm>
          <a:prstGeom prst="roundRect">
            <a:avLst>
              <a:gd name="adj" fmla="val 4167"/>
            </a:avLst>
          </a:prstGeom>
          <a:solidFill>
            <a:srgbClr val="1E293B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0632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📝  Auto-Generated JIRA Bug Contains: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35204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Summary: [Module] Test Case Title - FAIL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381304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Priority: Critical→Highest, High→High, Med→Medium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" y="4105656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Labels: qa-automation, module-auth, type-negative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0080" y="4398264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Description (Atlassian Document Format):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14400" y="469087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Bug Details Table (Module, Type, Priority, URL)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14400" y="49834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Steps to Reproduce (ordered list)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14400" y="527608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Expected Result vs Actual Result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914400" y="5568696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Error Message (code block)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914400" y="5861304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Environment: Browser, OS, Timestamp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217920" y="3017520"/>
            <a:ext cx="5486400" cy="3291840"/>
          </a:xfrm>
          <a:prstGeom prst="roundRect">
            <a:avLst>
              <a:gd name="adj" fmla="val 4167"/>
            </a:avLst>
          </a:prstGeom>
          <a:solidFill>
            <a:srgbClr val="1E293B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0" y="30632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⚙️  JIRA Configuration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492240" y="35661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 URL: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503920" y="356616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https://your-org.atlassian.net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492240" y="395020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Email: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503920" y="395020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qa-lead@company.com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92240" y="433425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Token: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503920" y="4334256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Generated from Atlassian account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492240" y="471830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Key: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503920" y="4718304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 (your JIRA project)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492240" y="510235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Issue Type: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503920" y="510235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Bug (default)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492240" y="5486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Connection: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503920" y="54864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Verify before enabling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QA AI Testing Tool | Confidential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0" y="660196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http://localhost:3001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6 — Automation Script Generator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 Complete Test Automation Projects — Download as ZIP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371600"/>
            <a:ext cx="2743200" cy="2286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4173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🔧 Tool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828800"/>
            <a:ext cx="2286000" cy="320040"/>
          </a:xfrm>
          <a:prstGeom prst="roundRect">
            <a:avLst>
              <a:gd name="adj" fmla="val 17143"/>
            </a:avLst>
          </a:pr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8288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Playwright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240280"/>
            <a:ext cx="2286000" cy="320040"/>
          </a:xfrm>
          <a:prstGeom prst="roundRect">
            <a:avLst>
              <a:gd name="adj" fmla="val 17143"/>
            </a:avLst>
          </a:prstGeom>
          <a:solidFill>
            <a:srgbClr val="334155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2402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Selenium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651760"/>
            <a:ext cx="2286000" cy="320040"/>
          </a:xfrm>
          <a:prstGeom prst="roundRect">
            <a:avLst>
              <a:gd name="adj" fmla="val 17143"/>
            </a:avLst>
          </a:prstGeom>
          <a:solidFill>
            <a:srgbClr val="334155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651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Cypress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063240"/>
            <a:ext cx="2286000" cy="320040"/>
          </a:xfrm>
          <a:prstGeom prst="roundRect">
            <a:avLst>
              <a:gd name="adj" fmla="val 17143"/>
            </a:avLst>
          </a:prstGeom>
          <a:solidFill>
            <a:srgbClr val="334155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0632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 Assured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91840" y="1371600"/>
            <a:ext cx="2743200" cy="2286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/>
        </p:spPr>
      </p:sp>
      <p:sp>
        <p:nvSpPr>
          <p:cNvPr id="19" name="Text 17"/>
          <p:cNvSpPr/>
          <p:nvPr/>
        </p:nvSpPr>
        <p:spPr>
          <a:xfrm>
            <a:off x="3383280" y="14173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💻 Language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74720" y="1828800"/>
            <a:ext cx="2286000" cy="320040"/>
          </a:xfrm>
          <a:prstGeom prst="roundRect">
            <a:avLst>
              <a:gd name="adj" fmla="val 17143"/>
            </a:avLst>
          </a:prstGeom>
          <a:solidFill>
            <a:srgbClr val="6366F1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0" y="18288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JavaScript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474720" y="2240280"/>
            <a:ext cx="2286000" cy="320040"/>
          </a:xfrm>
          <a:prstGeom prst="roundRect">
            <a:avLst>
              <a:gd name="adj" fmla="val 17143"/>
            </a:avLst>
          </a:prstGeom>
          <a:solidFill>
            <a:srgbClr val="334155"/>
          </a:solidFill>
          <a:ln/>
        </p:spPr>
      </p:sp>
      <p:sp>
        <p:nvSpPr>
          <p:cNvPr id="23" name="Text 21"/>
          <p:cNvSpPr/>
          <p:nvPr/>
        </p:nvSpPr>
        <p:spPr>
          <a:xfrm>
            <a:off x="3474720" y="22402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TypeScript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74720" y="2651760"/>
            <a:ext cx="2286000" cy="320040"/>
          </a:xfrm>
          <a:prstGeom prst="roundRect">
            <a:avLst>
              <a:gd name="adj" fmla="val 17143"/>
            </a:avLst>
          </a:prstGeom>
          <a:solidFill>
            <a:srgbClr val="334155"/>
          </a:solidFill>
          <a:ln/>
        </p:spPr>
      </p:sp>
      <p:sp>
        <p:nvSpPr>
          <p:cNvPr id="25" name="Text 23"/>
          <p:cNvSpPr/>
          <p:nvPr/>
        </p:nvSpPr>
        <p:spPr>
          <a:xfrm>
            <a:off x="3474720" y="2651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Java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74720" y="3063240"/>
            <a:ext cx="2286000" cy="320040"/>
          </a:xfrm>
          <a:prstGeom prst="roundRect">
            <a:avLst>
              <a:gd name="adj" fmla="val 17143"/>
            </a:avLst>
          </a:prstGeom>
          <a:solidFill>
            <a:srgbClr val="334155"/>
          </a:solidFill>
          <a:ln/>
        </p:spPr>
      </p:sp>
      <p:sp>
        <p:nvSpPr>
          <p:cNvPr id="27" name="Text 25"/>
          <p:cNvSpPr/>
          <p:nvPr/>
        </p:nvSpPr>
        <p:spPr>
          <a:xfrm>
            <a:off x="3474720" y="30632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17920" y="1371600"/>
            <a:ext cx="2743200" cy="2286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/>
        </p:spPr>
      </p:sp>
      <p:sp>
        <p:nvSpPr>
          <p:cNvPr id="29" name="Text 27"/>
          <p:cNvSpPr/>
          <p:nvPr/>
        </p:nvSpPr>
        <p:spPr>
          <a:xfrm>
            <a:off x="6309360" y="14173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📐 Framework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400800" y="1828800"/>
            <a:ext cx="2286000" cy="320040"/>
          </a:xfrm>
          <a:prstGeom prst="roundRect">
            <a:avLst>
              <a:gd name="adj" fmla="val 17143"/>
            </a:avLst>
          </a:prstGeom>
          <a:solidFill>
            <a:srgbClr val="6366F1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0" y="18288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Page Object Model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400800" y="2240280"/>
            <a:ext cx="2286000" cy="320040"/>
          </a:xfrm>
          <a:prstGeom prst="roundRect">
            <a:avLst>
              <a:gd name="adj" fmla="val 17143"/>
            </a:avLst>
          </a:prstGeom>
          <a:solidFill>
            <a:srgbClr val="334155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0" y="22402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BDD (Cucumber)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400800" y="2651760"/>
            <a:ext cx="2286000" cy="320040"/>
          </a:xfrm>
          <a:prstGeom prst="roundRect">
            <a:avLst>
              <a:gd name="adj" fmla="val 17143"/>
            </a:avLst>
          </a:prstGeom>
          <a:solidFill>
            <a:srgbClr val="334155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0" y="26517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Data-Driven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9144000" y="1371600"/>
            <a:ext cx="2560320" cy="2286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/>
        </p:spPr>
      </p:sp>
      <p:sp>
        <p:nvSpPr>
          <p:cNvPr id="37" name="Text 35"/>
          <p:cNvSpPr/>
          <p:nvPr/>
        </p:nvSpPr>
        <p:spPr>
          <a:xfrm>
            <a:off x="9235440" y="14173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📦 Output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326880" y="182880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Complete ZIP with: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package.json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Config files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Test files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Test data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README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65760" y="3931920"/>
            <a:ext cx="11338560" cy="2560320"/>
          </a:xfrm>
          <a:prstGeom prst="roundRect">
            <a:avLst>
              <a:gd name="adj" fmla="val 5357"/>
            </a:avLst>
          </a:prstGeom>
          <a:solidFill>
            <a:srgbClr val="1E293B"/>
          </a:solidFill>
          <a:ln/>
        </p:spPr>
      </p:sp>
      <p:sp>
        <p:nvSpPr>
          <p:cNvPr id="40" name="Text 38"/>
          <p:cNvSpPr/>
          <p:nvPr/>
        </p:nvSpPr>
        <p:spPr>
          <a:xfrm>
            <a:off x="548640" y="3977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📁  Generated Project Structure (Example: Playwright + JS + POM)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31520" y="443484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generated-tests/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package.json               ← Dependencies (playwright, dotenv)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playwright.config.js       ← Browser, timeout, reporter config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tests/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auth/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login.spec.js      ← Login test cases (valid/invalid/lockout)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└── register.spec.js   ← Registration tests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dashboard.spec.js      ← Dashboard load + performance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navigation.spec.js     ← Link checks, base URL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pages/                     ← Page Object classes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fixtures/                  ← Test data JSON files</a:t>
            </a:r>
            <a:endParaRPr lang="en-US" sz="9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README.md                  ← How to install + run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QA AI Testing Tool | Confidential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0" y="660196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http://localhost:3001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Reports &amp; Analytics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Report Formats + Dashboard with Run History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3657600" cy="2926080"/>
          </a:xfrm>
          <a:prstGeom prst="roundRect">
            <a:avLst>
              <a:gd name="adj" fmla="val 4688"/>
            </a:avLst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417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📄  HTML Report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1874520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Dark theme, professional layout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Execution stats dashboard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Module-by-module breakdown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Test case detail table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Color-coded pass rates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Error messages &amp; durations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Print-to-PDF friendly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India timezone formatted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0" y="1371600"/>
            <a:ext cx="3657600" cy="2926080"/>
          </a:xfrm>
          <a:prstGeom prst="roundRect">
            <a:avLst>
              <a:gd name="adj" fmla="val 4688"/>
            </a:avLst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4297680" y="1417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 Excel Report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297680" y="1874520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3-Sheet Workbook: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Summary Sheet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Stats, pass/fail counts, charts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📋 Test Cases Sheet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Full detail with all metadata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📦 Module Analysis Sheet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Per-module breakdown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955280" y="1371600"/>
            <a:ext cx="3749040" cy="2926080"/>
          </a:xfrm>
          <a:prstGeom prst="roundRect">
            <a:avLst>
              <a:gd name="adj" fmla="val 4688"/>
            </a:avLst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8138160" y="1417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F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📈  Dashboard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38160" y="1874520"/>
            <a:ext cx="3200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Run history table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Pass rate trends over time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KPI cards with animations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Donut chart visualization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Export history as CSV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Click to view past reports</a:t>
            </a:r>
            <a:endParaRPr lang="en-US" sz="10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Confetti on 100% pass!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4572000"/>
            <a:ext cx="11430000" cy="1737360"/>
          </a:xfrm>
          <a:prstGeom prst="roundRect">
            <a:avLst>
              <a:gd name="adj" fmla="val 7895"/>
            </a:avLst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617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 Sample Execution Metrics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50749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57200" y="55778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Tests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377440" y="50749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28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2377440" y="55778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Passed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297680" y="50749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4297680" y="55778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Failed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17920" y="50749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93.3%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217920" y="55778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 Rate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138160" y="50749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1m 48s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8138160" y="55778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Duration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058400" y="50749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366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10058400" y="557784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Modules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QA AI Testing Tool | Confidential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0" y="660196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http://localhost:3001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Generation Engine — 10 Built-in Modules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Keyword Detection Maps Requirements to Test Cases Automatically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097280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2011680"/>
                <a:gridCol w="457200"/>
                <a:gridCol w="2743200"/>
                <a:gridCol w="548640"/>
                <a:gridCol w="228600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#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Module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Icon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Keywords Detected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Tests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Types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Authentication (Login)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🔐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login, sign in, authentication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3+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Positive, Negative, Edge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User Registration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📝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register, signup, create account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3+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Positive, Negative, Edge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Payment &amp; Checkout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💳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payment, checkout, billing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3+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Positive, Negative, Edge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Form Validation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📋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form, input, validation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3+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Positive, Negative, Edge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Search &amp; Filter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🔍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search, filter, find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2+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Positive, Negative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Session (Logout)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🚪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logout, sign out, session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2+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Positive, Security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Password Management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🔑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password, forgot, reset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2+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Positive, Negative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Dashboard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📊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dashboard, overview, summary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2+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Positive, Performance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Navigation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🧭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Always included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2+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Positive, Baseline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User Profile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👤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profile, account, settings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2+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Positive, Security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365760" y="5120640"/>
            <a:ext cx="11430000" cy="1188720"/>
          </a:xfrm>
          <a:prstGeom prst="roundRect">
            <a:avLst>
              <a:gd name="adj" fmla="val 11538"/>
            </a:avLst>
          </a:prstGeom>
          <a:solidFill>
            <a:srgbClr val="1E293B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5166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🎯  Scope Filtering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5577840"/>
            <a:ext cx="2560320" cy="502920"/>
          </a:xfrm>
          <a:prstGeom prst="roundRect">
            <a:avLst>
              <a:gd name="adj" fmla="val 14545"/>
            </a:avLst>
          </a:prstGeom>
          <a:solidFill>
            <a:srgbClr val="334155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55778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Smoke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(~10)  </a:t>
            </a:r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per module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383280" y="5577840"/>
            <a:ext cx="2560320" cy="502920"/>
          </a:xfrm>
          <a:prstGeom prst="roundRect">
            <a:avLst>
              <a:gd name="adj" fmla="val 14545"/>
            </a:avLst>
          </a:prstGeom>
          <a:solidFill>
            <a:srgbClr val="334155"/>
          </a:solidFill>
          <a:ln/>
        </p:spPr>
      </p:sp>
      <p:sp>
        <p:nvSpPr>
          <p:cNvPr id="14" name="Text 11"/>
          <p:cNvSpPr/>
          <p:nvPr/>
        </p:nvSpPr>
        <p:spPr>
          <a:xfrm>
            <a:off x="3383280" y="55778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Sanity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(~20)  </a:t>
            </a:r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per module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217920" y="5577840"/>
            <a:ext cx="2560320" cy="502920"/>
          </a:xfrm>
          <a:prstGeom prst="roundRect">
            <a:avLst>
              <a:gd name="adj" fmla="val 14545"/>
            </a:avLst>
          </a:prstGeom>
          <a:solidFill>
            <a:srgbClr val="334155"/>
          </a:solidFill>
          <a:ln/>
        </p:spPr>
      </p:sp>
      <p:sp>
        <p:nvSpPr>
          <p:cNvPr id="16" name="Text 13"/>
          <p:cNvSpPr/>
          <p:nvPr/>
        </p:nvSpPr>
        <p:spPr>
          <a:xfrm>
            <a:off x="6217920" y="55778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Regression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(~30)  </a:t>
            </a:r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cases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9052560" y="5577840"/>
            <a:ext cx="2560320" cy="502920"/>
          </a:xfrm>
          <a:prstGeom prst="roundRect">
            <a:avLst>
              <a:gd name="adj" fmla="val 14545"/>
            </a:avLst>
          </a:prstGeom>
          <a:solidFill>
            <a:srgbClr val="334155"/>
          </a:solidFill>
          <a:ln/>
        </p:spPr>
      </p:sp>
      <p:sp>
        <p:nvSpPr>
          <p:cNvPr id="18" name="Text 15"/>
          <p:cNvSpPr/>
          <p:nvPr/>
        </p:nvSpPr>
        <p:spPr>
          <a:xfrm>
            <a:off x="9052560" y="55778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(~35+)  </a:t>
            </a:r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 + a11y + perf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QA AI Testing Tool | Confidential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0" y="660196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http://localhost:3001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Adaptive Selectors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Tests Work Across Any Web App — No Hardcoded Selectors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371600"/>
            <a:ext cx="11338560" cy="2286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417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🎯  How Adaptive Selectors Work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1828800"/>
            <a:ext cx="5029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function tryFind(page, selectors) 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(const sel of selectors) {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const el = page.locator(sel);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(await el.count() &gt; 0 &amp;&amp; await el.first().isVisible())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 el.first();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null;  // graceful fallback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0" y="182880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element tries 5-10 different CSS selectors: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 Input →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input[type="email"], input[name="email"],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input[name="username"], #email, #login-email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Submit Button →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button[type="submit"], button:has-text("Login"),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button:has-text("Sign In"), .btn-primary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3931920"/>
            <a:ext cx="3657600" cy="2286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977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 Benefits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4434840"/>
            <a:ext cx="3200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Works on any web application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No DOM knowledge required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Graceful degradation (no crash)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Tests pass if page responds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AI can enhance selectors further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06240" y="3931920"/>
            <a:ext cx="3657600" cy="2286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/>
        </p:spPr>
      </p:sp>
      <p:sp>
        <p:nvSpPr>
          <p:cNvPr id="16" name="Text 14"/>
          <p:cNvSpPr/>
          <p:nvPr/>
        </p:nvSpPr>
        <p:spPr>
          <a:xfrm>
            <a:off x="4389120" y="3977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🎭  Browser Support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389120" y="4434840"/>
            <a:ext cx="3200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Chromium (Desktop Chrome)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Firefox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WebKit (Safari)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Mobile Chrome (Pixel 5)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Mobile Safari (iPhone 12)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046720" y="3931920"/>
            <a:ext cx="3657600" cy="2286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0" y="3977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F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 Extra Checks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0" y="4434840"/>
            <a:ext cx="3200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Accessibility (WCAG):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alt text, labels, lang attr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Performance: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TTFB, FCP, DOM Ready,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 Full Load (fail if &gt; 10s)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QA AI Testing Tool | Confidential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0" y="660196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http://localhost:3001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 → Backend → Playwright → Reports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3017520" cy="22860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1417320"/>
            <a:ext cx="2834640" cy="365760"/>
          </a:xfrm>
          <a:prstGeom prst="roundRect">
            <a:avLst>
              <a:gd name="adj" fmla="val 15000"/>
            </a:avLst>
          </a:prstGeom>
          <a:solidFill>
            <a:srgbClr val="6366F1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4173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 (React + Vite)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874520"/>
            <a:ext cx="2651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Dashboard Page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Manual Test Run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Email Monitor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Script Generator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JIRA Config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AI Agent Config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32461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Port: 3001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337560" y="2286000"/>
            <a:ext cx="457200" cy="228600"/>
          </a:xfrm>
          <a:prstGeom prst="rightArrow">
            <a:avLst/>
          </a:prstGeom>
          <a:solidFill>
            <a:srgbClr val="00BCD4"/>
          </a:solidFill>
          <a:ln/>
        </p:spPr>
      </p:sp>
      <p:sp>
        <p:nvSpPr>
          <p:cNvPr id="14" name="Shape 12"/>
          <p:cNvSpPr/>
          <p:nvPr/>
        </p:nvSpPr>
        <p:spPr>
          <a:xfrm>
            <a:off x="3931920" y="1371600"/>
            <a:ext cx="3657600" cy="4937760"/>
          </a:xfrm>
          <a:prstGeom prst="roundRect">
            <a:avLst>
              <a:gd name="adj" fmla="val 3750"/>
            </a:avLst>
          </a:prstGeom>
          <a:solidFill>
            <a:srgbClr val="1E293B"/>
          </a:solidFill>
          <a:ln/>
        </p:spPr>
      </p:sp>
      <p:sp>
        <p:nvSpPr>
          <p:cNvPr id="15" name="Shape 13"/>
          <p:cNvSpPr/>
          <p:nvPr/>
        </p:nvSpPr>
        <p:spPr>
          <a:xfrm>
            <a:off x="4023360" y="141732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0D47A1"/>
          </a:solidFill>
          <a:ln/>
        </p:spPr>
      </p:sp>
      <p:sp>
        <p:nvSpPr>
          <p:cNvPr id="16" name="Text 14"/>
          <p:cNvSpPr/>
          <p:nvPr/>
        </p:nvSpPr>
        <p:spPr>
          <a:xfrm>
            <a:off x="4023360" y="14173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(Node.js + Express)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0" y="17830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Port: 5000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114800" y="2148840"/>
            <a:ext cx="3291840" cy="365760"/>
          </a:xfrm>
          <a:prstGeom prst="roundRect">
            <a:avLst>
              <a:gd name="adj" fmla="val 15000"/>
            </a:avLst>
          </a:prstGeom>
          <a:solidFill>
            <a:srgbClr val="334155"/>
          </a:solidFill>
          <a:ln/>
        </p:spPr>
      </p:sp>
      <p:sp>
        <p:nvSpPr>
          <p:cNvPr id="19" name="Text 17"/>
          <p:cNvSpPr/>
          <p:nvPr/>
        </p:nvSpPr>
        <p:spPr>
          <a:xfrm>
            <a:off x="4206240" y="2148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parser.js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217920" y="21488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PDF/TXT/MD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114800" y="2606040"/>
            <a:ext cx="3291840" cy="365760"/>
          </a:xfrm>
          <a:prstGeom prst="roundRect">
            <a:avLst>
              <a:gd name="adj" fmla="val 15000"/>
            </a:avLst>
          </a:prstGeom>
          <a:solidFill>
            <a:srgbClr val="334155"/>
          </a:solidFill>
          <a:ln/>
        </p:spPr>
      </p:sp>
      <p:sp>
        <p:nvSpPr>
          <p:cNvPr id="22" name="Text 20"/>
          <p:cNvSpPr/>
          <p:nvPr/>
        </p:nvSpPr>
        <p:spPr>
          <a:xfrm>
            <a:off x="4206240" y="26060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testGenerator.js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217920" y="2606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Rule-Based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114800" y="3063240"/>
            <a:ext cx="3291840" cy="365760"/>
          </a:xfrm>
          <a:prstGeom prst="roundRect">
            <a:avLst>
              <a:gd name="adj" fmla="val 15000"/>
            </a:avLst>
          </a:prstGeom>
          <a:solidFill>
            <a:srgbClr val="334155"/>
          </a:solidFill>
          <a:ln/>
        </p:spPr>
      </p:sp>
      <p:sp>
        <p:nvSpPr>
          <p:cNvPr id="25" name="Text 23"/>
          <p:cNvSpPr/>
          <p:nvPr/>
        </p:nvSpPr>
        <p:spPr>
          <a:xfrm>
            <a:off x="4206240" y="30632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playwrightRunner.js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217920" y="30632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Spec Gen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114800" y="3520440"/>
            <a:ext cx="3291840" cy="365760"/>
          </a:xfrm>
          <a:prstGeom prst="roundRect">
            <a:avLst>
              <a:gd name="adj" fmla="val 15000"/>
            </a:avLst>
          </a:prstGeom>
          <a:solidFill>
            <a:srgbClr val="334155"/>
          </a:solidFill>
          <a:ln/>
        </p:spPr>
      </p:sp>
      <p:sp>
        <p:nvSpPr>
          <p:cNvPr id="28" name="Text 26"/>
          <p:cNvSpPr/>
          <p:nvPr/>
        </p:nvSpPr>
        <p:spPr>
          <a:xfrm>
            <a:off x="4206240" y="35204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reportGenerator.js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217920" y="35204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HTML Report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114800" y="3977640"/>
            <a:ext cx="3291840" cy="365760"/>
          </a:xfrm>
          <a:prstGeom prst="roundRect">
            <a:avLst>
              <a:gd name="adj" fmla="val 15000"/>
            </a:avLst>
          </a:prstGeom>
          <a:solidFill>
            <a:srgbClr val="334155"/>
          </a:solidFill>
          <a:ln/>
        </p:spPr>
      </p:sp>
      <p:sp>
        <p:nvSpPr>
          <p:cNvPr id="31" name="Text 29"/>
          <p:cNvSpPr/>
          <p:nvPr/>
        </p:nvSpPr>
        <p:spPr>
          <a:xfrm>
            <a:off x="4206240" y="39776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excelGenerator.js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217920" y="39776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Excel Report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114800" y="4434840"/>
            <a:ext cx="3291840" cy="365760"/>
          </a:xfrm>
          <a:prstGeom prst="roundRect">
            <a:avLst>
              <a:gd name="adj" fmla="val 15000"/>
            </a:avLst>
          </a:prstGeom>
          <a:solidFill>
            <a:srgbClr val="334155"/>
          </a:solidFill>
          <a:ln/>
        </p:spPr>
      </p:sp>
      <p:sp>
        <p:nvSpPr>
          <p:cNvPr id="34" name="Text 32"/>
          <p:cNvSpPr/>
          <p:nvPr/>
        </p:nvSpPr>
        <p:spPr>
          <a:xfrm>
            <a:off x="4206240" y="4434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emailMonitor.js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217920" y="44348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IMAP Bot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114800" y="4892040"/>
            <a:ext cx="3291840" cy="365760"/>
          </a:xfrm>
          <a:prstGeom prst="roundRect">
            <a:avLst>
              <a:gd name="adj" fmla="val 15000"/>
            </a:avLst>
          </a:prstGeom>
          <a:solidFill>
            <a:srgbClr val="334155"/>
          </a:solidFill>
          <a:ln/>
        </p:spPr>
      </p:sp>
      <p:sp>
        <p:nvSpPr>
          <p:cNvPr id="37" name="Text 35"/>
          <p:cNvSpPr/>
          <p:nvPr/>
        </p:nvSpPr>
        <p:spPr>
          <a:xfrm>
            <a:off x="4206240" y="48920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jiraService.js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217920" y="48920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Bug Logging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114800" y="5349240"/>
            <a:ext cx="3291840" cy="365760"/>
          </a:xfrm>
          <a:prstGeom prst="roundRect">
            <a:avLst>
              <a:gd name="adj" fmla="val 15000"/>
            </a:avLst>
          </a:prstGeom>
          <a:solidFill>
            <a:srgbClr val="334155"/>
          </a:solidFill>
          <a:ln/>
        </p:spPr>
      </p:sp>
      <p:sp>
        <p:nvSpPr>
          <p:cNvPr id="40" name="Text 38"/>
          <p:cNvSpPr/>
          <p:nvPr/>
        </p:nvSpPr>
        <p:spPr>
          <a:xfrm>
            <a:off x="4206240" y="53492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scriptGenerator.js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217920" y="53492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ZIP Export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7635240" y="2286000"/>
            <a:ext cx="457200" cy="228600"/>
          </a:xfrm>
          <a:prstGeom prst="rightArrow">
            <a:avLst/>
          </a:prstGeom>
          <a:solidFill>
            <a:srgbClr val="00BCD4"/>
          </a:solidFill>
          <a:ln/>
        </p:spPr>
      </p:sp>
      <p:sp>
        <p:nvSpPr>
          <p:cNvPr id="43" name="Shape 41"/>
          <p:cNvSpPr/>
          <p:nvPr/>
        </p:nvSpPr>
        <p:spPr>
          <a:xfrm>
            <a:off x="8229600" y="1371600"/>
            <a:ext cx="2103120" cy="2286000"/>
          </a:xfrm>
          <a:prstGeom prst="roundRect">
            <a:avLst>
              <a:gd name="adj" fmla="val 6522"/>
            </a:avLst>
          </a:prstGeom>
          <a:solidFill>
            <a:srgbClr val="1E293B"/>
          </a:solidFill>
          <a:ln/>
        </p:spPr>
      </p:sp>
      <p:sp>
        <p:nvSpPr>
          <p:cNvPr id="44" name="Shape 42"/>
          <p:cNvSpPr/>
          <p:nvPr/>
        </p:nvSpPr>
        <p:spPr>
          <a:xfrm>
            <a:off x="8321040" y="1417320"/>
            <a:ext cx="1920240" cy="365760"/>
          </a:xfrm>
          <a:prstGeom prst="roundRect">
            <a:avLst>
              <a:gd name="adj" fmla="val 15000"/>
            </a:avLst>
          </a:prstGeom>
          <a:solidFill>
            <a:srgbClr val="10B981"/>
          </a:solidFill>
          <a:ln/>
        </p:spPr>
      </p:sp>
      <p:sp>
        <p:nvSpPr>
          <p:cNvPr id="45" name="Text 43"/>
          <p:cNvSpPr/>
          <p:nvPr/>
        </p:nvSpPr>
        <p:spPr>
          <a:xfrm>
            <a:off x="8321040" y="14173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PLAYWRIGHT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321040" y="1874520"/>
            <a:ext cx="19202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generated.spec.js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3 Workers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25s Timeout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JSON Results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Screenshots</a:t>
            </a:r>
            <a:endParaRPr lang="en-US" sz="9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Multi-Browser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0378440" y="2286000"/>
            <a:ext cx="457200" cy="228600"/>
          </a:xfrm>
          <a:prstGeom prst="rightArrow">
            <a:avLst/>
          </a:prstGeom>
          <a:solidFill>
            <a:srgbClr val="00BCD4"/>
          </a:solidFill>
          <a:ln/>
        </p:spPr>
      </p:sp>
      <p:sp>
        <p:nvSpPr>
          <p:cNvPr id="48" name="Shape 46"/>
          <p:cNvSpPr/>
          <p:nvPr/>
        </p:nvSpPr>
        <p:spPr>
          <a:xfrm>
            <a:off x="10972800" y="1371600"/>
            <a:ext cx="1097280" cy="2286000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/>
        </p:spPr>
      </p:sp>
      <p:sp>
        <p:nvSpPr>
          <p:cNvPr id="49" name="Text 47"/>
          <p:cNvSpPr/>
          <p:nvPr/>
        </p:nvSpPr>
        <p:spPr>
          <a:xfrm>
            <a:off x="11064240" y="1463040"/>
            <a:ext cx="9144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HTML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Excel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📋</a:t>
            </a:r>
            <a:endParaRPr lang="en-US" sz="1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JSON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8229600" y="4114800"/>
            <a:ext cx="3840480" cy="182880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/>
        </p:spPr>
      </p:sp>
      <p:sp>
        <p:nvSpPr>
          <p:cNvPr id="51" name="Shape 49"/>
          <p:cNvSpPr/>
          <p:nvPr/>
        </p:nvSpPr>
        <p:spPr>
          <a:xfrm>
            <a:off x="8321040" y="4160520"/>
            <a:ext cx="3657600" cy="365760"/>
          </a:xfrm>
          <a:prstGeom prst="roundRect">
            <a:avLst>
              <a:gd name="adj" fmla="val 15000"/>
            </a:avLst>
          </a:prstGeom>
          <a:solidFill>
            <a:srgbClr val="00BCD4"/>
          </a:solidFill>
          <a:ln/>
        </p:spPr>
      </p:sp>
      <p:sp>
        <p:nvSpPr>
          <p:cNvPr id="52" name="Text 50"/>
          <p:cNvSpPr/>
          <p:nvPr/>
        </p:nvSpPr>
        <p:spPr>
          <a:xfrm>
            <a:off x="8321040" y="41605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AGENTS (Claude API)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8412480" y="4617720"/>
            <a:ext cx="3474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Requirement Analyst (12yr)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Test Architect (15yr)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Execution Engineer (10yr)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QA Director (20yr)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Report Analyst (8yr)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274320" y="4114800"/>
            <a:ext cx="3017520" cy="1828800"/>
          </a:xfrm>
          <a:prstGeom prst="roundRect">
            <a:avLst>
              <a:gd name="adj" fmla="val 7500"/>
            </a:avLst>
          </a:prstGeom>
          <a:solidFill>
            <a:srgbClr val="1E293B"/>
          </a:solidFill>
          <a:ln/>
        </p:spPr>
      </p:sp>
      <p:sp>
        <p:nvSpPr>
          <p:cNvPr id="55" name="Shape 53"/>
          <p:cNvSpPr/>
          <p:nvPr/>
        </p:nvSpPr>
        <p:spPr>
          <a:xfrm>
            <a:off x="365760" y="4160520"/>
            <a:ext cx="2834640" cy="365760"/>
          </a:xfrm>
          <a:prstGeom prst="roundRect">
            <a:avLst>
              <a:gd name="adj" fmla="val 15000"/>
            </a:avLst>
          </a:prstGeom>
          <a:solidFill>
            <a:srgbClr val="FF6F00"/>
          </a:solidFill>
          <a:ln/>
        </p:spPr>
      </p:sp>
      <p:sp>
        <p:nvSpPr>
          <p:cNvPr id="56" name="Text 54"/>
          <p:cNvSpPr/>
          <p:nvPr/>
        </p:nvSpPr>
        <p:spPr>
          <a:xfrm>
            <a:off x="365760" y="41605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EXTERNAL INTEGRATIONS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457200" y="4617720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JIRA (REST API)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Gmail (IMAP/SMTP)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Claude AI (Anthropic API)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File System (reports)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QA AI Testing Tool | Confidential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0" y="660196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http://localhost:3001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Domain-Aware Intelligence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Agents Detect Domain and Apply Specialized Knowledge</a:t>
            </a:r>
            <a:endParaRPr lang="en-US" sz="14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09728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657600"/>
                <a:gridCol w="594360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Domain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Detection Keywords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Specialized Knowledge Applied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Banking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bank, account, transfer, loan, KYC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Transaction testing, interest calculations, KYC validation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Insurance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policy, claim, premium, underwriting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Policy lifecycle, claims workflow, premium calculations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Investment Banking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trade, portfolio, FIX, settlement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Trade lifecycle, FIX protocol, T+1/T+2 settlement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Telecom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billing, subscriber, CDR, roaming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Billing accuracy, rating engine, number portability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E-Commerce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cart, checkout, product, order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Cart management, checkout flow, order tracking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Healthcare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patient, appointment, EMR, prescription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Patient data, appointment scheduling, HIPAA compliance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Generic Web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Default fallback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Standard web testing: auth, forms, navigation, search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365760" y="4846320"/>
            <a:ext cx="11338560" cy="137160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4892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🎯  How It Works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" y="530352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Upload requirements document (any domain)  →  2. AI Analyst detects domain with confidence score  →  3. Test Architect applies domain-specific edge cases  →  4. QA Director evaluates domain compliance  →  5. Report Analyst writes domain-aware executive summary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QA AI Testing Tool | Confidential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0" y="660196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http://localhost:3001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Before vs After — Impact Analysis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Quantified Benefits of QA AI Testing Tool</a:t>
            </a:r>
            <a:endParaRPr lang="en-US" sz="14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09728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560320"/>
                <a:gridCol w="2560320"/>
                <a:gridCol w="256032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Metric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Before (Manual)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After (QA AI Tool)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Improvement</a:t>
                      </a:r>
                      <a:endParaRPr lang="en-US" sz="10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Test Case Generation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2-3 days / module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&lt; 30 seconds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99.9% faster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Test Execution (Full)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30+ hours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&lt; 5 minutes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360x faster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Report Generation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4-6 hours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&lt; 10 seconds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Instant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Bug Logging (JIRA)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15 min / bug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Automatic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Zero effort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Regression Cycle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2-3 days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33 minutes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120x faster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QA Team Size Needed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3-5 engineers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 engineer + tool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70% reduction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Coverage Consistency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Variable (human)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100% consistent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Reliable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CI/CD Integration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Manual trigger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Email-triggered auto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Fully automated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Cross-Browser Testing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3x manual effort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Single run, 5 browsers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5x coverage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Domain Knowledge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Per-engineer exp.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 domains built-in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Standardized</a:t>
                      </a:r>
                      <a:endParaRPr lang="en-US" sz="9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QA AI Testing Tool | Confidential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0" y="660196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http://localhost:3001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Demo Walkthrough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http://localhost:3001 — End-to-End Feature Demonstration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3657600" cy="1417320"/>
          </a:xfrm>
          <a:prstGeom prst="roundRect">
            <a:avLst>
              <a:gd name="adj" fmla="val 9677"/>
            </a:avLst>
          </a:prstGeom>
          <a:solidFill>
            <a:srgbClr val="1E293B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1463040"/>
            <a:ext cx="411480" cy="365760"/>
          </a:xfrm>
          <a:prstGeom prst="roundRect">
            <a:avLst>
              <a:gd name="adj" fmla="val 15000"/>
            </a:avLst>
          </a:prstGeom>
          <a:solidFill>
            <a:srgbClr val="6366F1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46304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14630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18288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Show run history, KPI cards, trends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017520" y="22860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min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206240" y="1371600"/>
            <a:ext cx="3657600" cy="1417320"/>
          </a:xfrm>
          <a:prstGeom prst="roundRect">
            <a:avLst>
              <a:gd name="adj" fmla="val 9677"/>
            </a:avLst>
          </a:prstGeom>
          <a:solidFill>
            <a:srgbClr val="1E293B"/>
          </a:solidFill>
          <a:ln/>
        </p:spPr>
      </p:sp>
      <p:sp>
        <p:nvSpPr>
          <p:cNvPr id="15" name="Shape 13"/>
          <p:cNvSpPr/>
          <p:nvPr/>
        </p:nvSpPr>
        <p:spPr>
          <a:xfrm>
            <a:off x="4297680" y="1463040"/>
            <a:ext cx="411480" cy="365760"/>
          </a:xfrm>
          <a:prstGeom prst="roundRect">
            <a:avLst>
              <a:gd name="adj" fmla="val 15000"/>
            </a:avLst>
          </a:prstGeom>
          <a:solidFill>
            <a:srgbClr val="6366F1"/>
          </a:solidFill>
          <a:ln/>
        </p:spPr>
      </p:sp>
      <p:sp>
        <p:nvSpPr>
          <p:cNvPr id="16" name="Text 14"/>
          <p:cNvSpPr/>
          <p:nvPr/>
        </p:nvSpPr>
        <p:spPr>
          <a:xfrm>
            <a:off x="4297680" y="146304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00600" y="14630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Upload &amp; Configure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00600" y="18288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Upload requirements PDF, set scope=Regression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949440" y="22860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min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8138160" y="1371600"/>
            <a:ext cx="3657600" cy="1417320"/>
          </a:xfrm>
          <a:prstGeom prst="roundRect">
            <a:avLst>
              <a:gd name="adj" fmla="val 9677"/>
            </a:avLst>
          </a:prstGeom>
          <a:solidFill>
            <a:srgbClr val="1E293B"/>
          </a:solidFill>
          <a:ln/>
        </p:spPr>
      </p:sp>
      <p:sp>
        <p:nvSpPr>
          <p:cNvPr id="21" name="Shape 19"/>
          <p:cNvSpPr/>
          <p:nvPr/>
        </p:nvSpPr>
        <p:spPr>
          <a:xfrm>
            <a:off x="8229600" y="1463040"/>
            <a:ext cx="411480" cy="365760"/>
          </a:xfrm>
          <a:prstGeom prst="roundRect">
            <a:avLst>
              <a:gd name="adj" fmla="val 15000"/>
            </a:avLst>
          </a:prstGeom>
          <a:solidFill>
            <a:srgbClr val="6366F1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0" y="146304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732520" y="14630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Execute Tests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732520" y="182880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Watch real-time logs, 30+ tests running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881360" y="22860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min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3017520"/>
            <a:ext cx="3657600" cy="1417320"/>
          </a:xfrm>
          <a:prstGeom prst="roundRect">
            <a:avLst>
              <a:gd name="adj" fmla="val 9677"/>
            </a:avLst>
          </a:prstGeom>
          <a:solidFill>
            <a:srgbClr val="1E293B"/>
          </a:solidFill>
          <a:ln/>
        </p:spPr>
      </p:sp>
      <p:sp>
        <p:nvSpPr>
          <p:cNvPr id="27" name="Shape 25"/>
          <p:cNvSpPr/>
          <p:nvPr/>
        </p:nvSpPr>
        <p:spPr>
          <a:xfrm>
            <a:off x="365760" y="3108960"/>
            <a:ext cx="411480" cy="365760"/>
          </a:xfrm>
          <a:prstGeom prst="roundRect">
            <a:avLst>
              <a:gd name="adj" fmla="val 15000"/>
            </a:avLst>
          </a:prstGeom>
          <a:solidFill>
            <a:srgbClr val="6366F1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310896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68680" y="31089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View Results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68680" y="34747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Pass/fail table, error details, donut chart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017520" y="39319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min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206240" y="3017520"/>
            <a:ext cx="3657600" cy="1417320"/>
          </a:xfrm>
          <a:prstGeom prst="roundRect">
            <a:avLst>
              <a:gd name="adj" fmla="val 9677"/>
            </a:avLst>
          </a:prstGeom>
          <a:solidFill>
            <a:srgbClr val="1E293B"/>
          </a:solidFill>
          <a:ln/>
        </p:spPr>
      </p:sp>
      <p:sp>
        <p:nvSpPr>
          <p:cNvPr id="33" name="Shape 31"/>
          <p:cNvSpPr/>
          <p:nvPr/>
        </p:nvSpPr>
        <p:spPr>
          <a:xfrm>
            <a:off x="4297680" y="3108960"/>
            <a:ext cx="411480" cy="365760"/>
          </a:xfrm>
          <a:prstGeom prst="roundRect">
            <a:avLst>
              <a:gd name="adj" fmla="val 15000"/>
            </a:avLst>
          </a:prstGeom>
          <a:solidFill>
            <a:srgbClr val="6366F1"/>
          </a:solidFill>
          <a:ln/>
        </p:spPr>
      </p:sp>
      <p:sp>
        <p:nvSpPr>
          <p:cNvPr id="34" name="Text 32"/>
          <p:cNvSpPr/>
          <p:nvPr/>
        </p:nvSpPr>
        <p:spPr>
          <a:xfrm>
            <a:off x="4297680" y="310896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800600" y="31089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Download Reports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800600" y="34747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HTML report, Excel workbook, JSON export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949440" y="39319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min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8138160" y="3017520"/>
            <a:ext cx="3657600" cy="1417320"/>
          </a:xfrm>
          <a:prstGeom prst="roundRect">
            <a:avLst>
              <a:gd name="adj" fmla="val 9677"/>
            </a:avLst>
          </a:prstGeom>
          <a:solidFill>
            <a:srgbClr val="1E293B"/>
          </a:solidFill>
          <a:ln/>
        </p:spPr>
      </p:sp>
      <p:sp>
        <p:nvSpPr>
          <p:cNvPr id="39" name="Shape 37"/>
          <p:cNvSpPr/>
          <p:nvPr/>
        </p:nvSpPr>
        <p:spPr>
          <a:xfrm>
            <a:off x="8229600" y="3108960"/>
            <a:ext cx="411480" cy="365760"/>
          </a:xfrm>
          <a:prstGeom prst="roundRect">
            <a:avLst>
              <a:gd name="adj" fmla="val 15000"/>
            </a:avLst>
          </a:prstGeom>
          <a:solidFill>
            <a:srgbClr val="6366F1"/>
          </a:solidFill>
          <a:ln/>
        </p:spPr>
      </p:sp>
      <p:sp>
        <p:nvSpPr>
          <p:cNvPr id="40" name="Text 38"/>
          <p:cNvSpPr/>
          <p:nvPr/>
        </p:nvSpPr>
        <p:spPr>
          <a:xfrm>
            <a:off x="8229600" y="310896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8732520" y="31089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JIRA Integration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8732520" y="347472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Show auto-created bugs from failed tests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0881360" y="39319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min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74320" y="4663440"/>
            <a:ext cx="3657600" cy="1417320"/>
          </a:xfrm>
          <a:prstGeom prst="roundRect">
            <a:avLst>
              <a:gd name="adj" fmla="val 9677"/>
            </a:avLst>
          </a:prstGeom>
          <a:solidFill>
            <a:srgbClr val="1E293B"/>
          </a:solidFill>
          <a:ln/>
        </p:spPr>
      </p:sp>
      <p:sp>
        <p:nvSpPr>
          <p:cNvPr id="45" name="Shape 43"/>
          <p:cNvSpPr/>
          <p:nvPr/>
        </p:nvSpPr>
        <p:spPr>
          <a:xfrm>
            <a:off x="365760" y="4754880"/>
            <a:ext cx="411480" cy="365760"/>
          </a:xfrm>
          <a:prstGeom prst="roundRect">
            <a:avLst>
              <a:gd name="adj" fmla="val 15000"/>
            </a:avLst>
          </a:prstGeom>
          <a:solidFill>
            <a:srgbClr val="6366F1"/>
          </a:solidFill>
          <a:ln/>
        </p:spPr>
      </p:sp>
      <p:sp>
        <p:nvSpPr>
          <p:cNvPr id="46" name="Text 44"/>
          <p:cNvSpPr/>
          <p:nvPr/>
        </p:nvSpPr>
        <p:spPr>
          <a:xfrm>
            <a:off x="365760" y="475488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868680" y="47548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 Monitor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868680" y="51206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Configure bot, show auto-trigger flow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3017520" y="55778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 min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206240" y="4663440"/>
            <a:ext cx="3657600" cy="1417320"/>
          </a:xfrm>
          <a:prstGeom prst="roundRect">
            <a:avLst>
              <a:gd name="adj" fmla="val 9677"/>
            </a:avLst>
          </a:prstGeom>
          <a:solidFill>
            <a:srgbClr val="1E293B"/>
          </a:solidFill>
          <a:ln/>
        </p:spPr>
      </p:sp>
      <p:sp>
        <p:nvSpPr>
          <p:cNvPr id="51" name="Shape 49"/>
          <p:cNvSpPr/>
          <p:nvPr/>
        </p:nvSpPr>
        <p:spPr>
          <a:xfrm>
            <a:off x="4297680" y="4754880"/>
            <a:ext cx="411480" cy="365760"/>
          </a:xfrm>
          <a:prstGeom prst="roundRect">
            <a:avLst>
              <a:gd name="adj" fmla="val 15000"/>
            </a:avLst>
          </a:prstGeom>
          <a:solidFill>
            <a:srgbClr val="6366F1"/>
          </a:solidFill>
          <a:ln/>
        </p:spPr>
      </p:sp>
      <p:sp>
        <p:nvSpPr>
          <p:cNvPr id="52" name="Text 50"/>
          <p:cNvSpPr/>
          <p:nvPr/>
        </p:nvSpPr>
        <p:spPr>
          <a:xfrm>
            <a:off x="4297680" y="475488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4800600" y="47548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Script Generator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4800600" y="51206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 Playwright + POM project, download ZIP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949440" y="55778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min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8138160" y="4663440"/>
            <a:ext cx="3657600" cy="1417320"/>
          </a:xfrm>
          <a:prstGeom prst="roundRect">
            <a:avLst>
              <a:gd name="adj" fmla="val 9677"/>
            </a:avLst>
          </a:prstGeom>
          <a:solidFill>
            <a:srgbClr val="1E293B"/>
          </a:solidFill>
          <a:ln/>
        </p:spPr>
      </p:sp>
      <p:sp>
        <p:nvSpPr>
          <p:cNvPr id="57" name="Shape 55"/>
          <p:cNvSpPr/>
          <p:nvPr/>
        </p:nvSpPr>
        <p:spPr>
          <a:xfrm>
            <a:off x="8229600" y="4754880"/>
            <a:ext cx="411480" cy="365760"/>
          </a:xfrm>
          <a:prstGeom prst="roundRect">
            <a:avLst>
              <a:gd name="adj" fmla="val 15000"/>
            </a:avLst>
          </a:prstGeom>
          <a:solidFill>
            <a:srgbClr val="6366F1"/>
          </a:solidFill>
          <a:ln/>
        </p:spPr>
      </p:sp>
      <p:sp>
        <p:nvSpPr>
          <p:cNvPr id="58" name="Text 56"/>
          <p:cNvSpPr/>
          <p:nvPr/>
        </p:nvSpPr>
        <p:spPr>
          <a:xfrm>
            <a:off x="8229600" y="475488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8732520" y="475488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Agent Config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8732520" y="51206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Enable Claude AI, show enhanced analysis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10881360" y="55778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 min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365760" y="6400800"/>
            <a:ext cx="10972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D5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Demo Time: ~12 minutes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QA AI Testing Tool | Confidential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0" y="660196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http://localhost:3001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Roadmap &amp; Future Enhancements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Is Coming Next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371600"/>
            <a:ext cx="3749040" cy="3657600"/>
          </a:xfrm>
          <a:prstGeom prst="roundRect">
            <a:avLst>
              <a:gd name="adj" fmla="val 3750"/>
            </a:avLst>
          </a:prstGeom>
          <a:solidFill>
            <a:srgbClr val="1E293B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" y="1417320"/>
            <a:ext cx="3566160" cy="411480"/>
          </a:xfrm>
          <a:prstGeom prst="roundRect">
            <a:avLst>
              <a:gd name="adj" fmla="val 13333"/>
            </a:avLst>
          </a:prstGeom>
          <a:solidFill>
            <a:srgbClr val="6366F1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4173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2 (Q2 2026)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0116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Visual regression testing (screenshot diff)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4231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Database testing integration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8346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Real API endpoint discovery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2461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Slack/Teams notifications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97680" y="1371600"/>
            <a:ext cx="3749040" cy="3657600"/>
          </a:xfrm>
          <a:prstGeom prst="roundRect">
            <a:avLst>
              <a:gd name="adj" fmla="val 3750"/>
            </a:avLst>
          </a:prstGeom>
          <a:solidFill>
            <a:srgbClr val="1E293B"/>
          </a:solidFill>
          <a:ln/>
        </p:spPr>
      </p:sp>
      <p:sp>
        <p:nvSpPr>
          <p:cNvPr id="16" name="Shape 14"/>
          <p:cNvSpPr/>
          <p:nvPr/>
        </p:nvSpPr>
        <p:spPr>
          <a:xfrm>
            <a:off x="4389120" y="1417320"/>
            <a:ext cx="3566160" cy="411480"/>
          </a:xfrm>
          <a:prstGeom prst="roundRect">
            <a:avLst>
              <a:gd name="adj" fmla="val 13333"/>
            </a:avLst>
          </a:prstGeom>
          <a:solidFill>
            <a:srgbClr val="00BCD4"/>
          </a:solidFill>
          <a:ln/>
        </p:spPr>
      </p:sp>
      <p:sp>
        <p:nvSpPr>
          <p:cNvPr id="17" name="Text 15"/>
          <p:cNvSpPr/>
          <p:nvPr/>
        </p:nvSpPr>
        <p:spPr>
          <a:xfrm>
            <a:off x="4389120" y="14173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3 (Q3 2026)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480560" y="20116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Cloud deployment (Docker + K8s)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480560" y="24231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Multi-project workspace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480560" y="28346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Scheduled regression runs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480560" y="32461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Test analytics &amp; trends dashboard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321040" y="1371600"/>
            <a:ext cx="3749040" cy="3657600"/>
          </a:xfrm>
          <a:prstGeom prst="roundRect">
            <a:avLst>
              <a:gd name="adj" fmla="val 3750"/>
            </a:avLst>
          </a:prstGeom>
          <a:solidFill>
            <a:srgbClr val="1E293B"/>
          </a:solidFill>
          <a:ln/>
        </p:spPr>
      </p:sp>
      <p:sp>
        <p:nvSpPr>
          <p:cNvPr id="23" name="Shape 21"/>
          <p:cNvSpPr/>
          <p:nvPr/>
        </p:nvSpPr>
        <p:spPr>
          <a:xfrm>
            <a:off x="8412480" y="1417320"/>
            <a:ext cx="3566160" cy="411480"/>
          </a:xfrm>
          <a:prstGeom prst="roundRect">
            <a:avLst>
              <a:gd name="adj" fmla="val 13333"/>
            </a:avLst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8412480" y="141732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4 (Q4 2026)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503920" y="20116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Self-healing tests (AI fixes selectors)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503920" y="24231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Load testing integration (k6/JMeter)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503920" y="28346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Natural language test writing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503920" y="32461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▸  CI/CD plugin (Jenkins/GitHub Actions)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5303520"/>
            <a:ext cx="11430000" cy="914400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539496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🎯  Vision: One-click QA for any web application — upload, test, ship with confidence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FF6F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0"/>
            <a:ext cx="12192000" cy="2743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60196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QA AI Testing Tool | Confidential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0" y="660196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http://localhost:3001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229600" y="457200"/>
            <a:ext cx="4572000" cy="4572000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7" name="Shape 5"/>
          <p:cNvSpPr/>
          <p:nvPr/>
        </p:nvSpPr>
        <p:spPr>
          <a:xfrm>
            <a:off x="-914400" y="3657600"/>
            <a:ext cx="3657600" cy="3657600"/>
          </a:xfrm>
          <a:prstGeom prst="ellipse">
            <a:avLst/>
          </a:prstGeom>
          <a:solidFill>
            <a:srgbClr val="00BCD4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0" y="137160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🤖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914400" y="256032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914400" y="33832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2743200" y="4114800"/>
            <a:ext cx="6675120" cy="27432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5720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URL: </a:t>
            </a:r>
            <a:pPr algn="ctr" indent="0" marL="0">
              <a:buNone/>
            </a:pPr>
            <a:r>
              <a:rPr lang="en-US" sz="1600" b="1" dirty="0">
                <a:solidFill>
                  <a:srgbClr val="00BC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http://localhost:3001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50292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Tech: </a:t>
            </a:r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+ Node.js + Playwright + Claude AI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576072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for QA Engineers, by QA Engineers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InsureAI QA Team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QA AI Testing Tool — Product Presentation</dc:title>
  <dc:subject>Complete Feature Walkthrough</dc:subject>
  <dc:creator>QA AI Testing Tool</dc:creator>
  <cp:lastModifiedBy>QA AI Testing Tool</cp:lastModifiedBy>
  <cp:revision>1</cp:revision>
  <dcterms:created xsi:type="dcterms:W3CDTF">2026-04-06T16:39:52Z</dcterms:created>
  <dcterms:modified xsi:type="dcterms:W3CDTF">2026-04-06T16:39:52Z</dcterms:modified>
</cp:coreProperties>
</file>